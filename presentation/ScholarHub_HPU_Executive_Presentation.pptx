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3A26"/>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C59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pu_logo.png"/>
          <p:cNvPicPr>
            <a:picLocks noChangeAspect="1"/>
          </p:cNvPicPr>
          <p:nvPr/>
        </p:nvPicPr>
        <p:blipFill>
          <a:blip r:embed="rId2"/>
          <a:stretch>
            <a:fillRect/>
          </a:stretch>
        </p:blipFill>
        <p:spPr>
          <a:xfrm>
            <a:off x="5394960" y="1005840"/>
            <a:ext cx="1371600" cy="1371600"/>
          </a:xfrm>
          <a:prstGeom prst="rect">
            <a:avLst/>
          </a:prstGeom>
        </p:spPr>
      </p:pic>
      <p:sp>
        <p:nvSpPr>
          <p:cNvPr id="4" name="TextBox 3"/>
          <p:cNvSpPr txBox="1"/>
          <p:nvPr/>
        </p:nvSpPr>
        <p:spPr>
          <a:xfrm>
            <a:off x="1097280" y="2468880"/>
            <a:ext cx="9966960" cy="3474720"/>
          </a:xfrm>
          <a:prstGeom prst="rect">
            <a:avLst/>
          </a:prstGeom>
          <a:noFill/>
        </p:spPr>
        <p:txBody>
          <a:bodyPr wrap="square">
            <a:spAutoFit/>
          </a:bodyPr>
          <a:lstStyle/>
          <a:p>
            <a:pPr algn="ctr">
              <a:defRPr sz="4000" b="1">
                <a:solidFill>
                  <a:srgbClr val="FFFFFF"/>
                </a:solidFill>
                <a:latin typeface="Segoe UI"/>
              </a:defRPr>
            </a:pPr>
            <a:r>
              <a:t>SCHOLARHUB HPU</a:t>
            </a:r>
          </a:p>
          <a:p>
            <a:pPr algn="ctr">
              <a:spcBef>
                <a:spcPts val="800"/>
              </a:spcBef>
              <a:defRPr sz="2100" b="1">
                <a:solidFill>
                  <a:srgbClr val="C59B27"/>
                </a:solidFill>
                <a:latin typeface="Segoe UI"/>
              </a:defRPr>
            </a:pPr>
            <a:r>
              <a:t>Unified Ph.D. Research Lifecycle &amp; Academic Governance Ecosystem</a:t>
            </a:r>
          </a:p>
          <a:p>
            <a:pPr algn="ctr">
              <a:spcBef>
                <a:spcPts val="1400"/>
              </a:spcBef>
              <a:defRPr sz="1300">
                <a:solidFill>
                  <a:srgbClr val="F1F5F9"/>
                </a:solidFill>
                <a:latin typeface="Segoe UI"/>
              </a:defRPr>
            </a:pPr>
            <a:r>
              <a:t>Integrated Research Management (ScholarSync)  •  Biometric Attendance &amp; Leave Engine (ScholarTrack)  •  Academic Research Directory</a:t>
            </a:r>
          </a:p>
          <a:p>
            <a:pPr algn="ctr">
              <a:spcBef>
                <a:spcPts val="2200"/>
              </a:spcBef>
              <a:defRPr sz="1200" b="1">
                <a:solidFill>
                  <a:srgbClr val="A7F3D0"/>
                </a:solidFill>
                <a:latin typeface="Segoe UI"/>
              </a:defRPr>
            </a:pPr>
            <a:r>
              <a:t>Executive Institutional Presentation for the Hon'ble Vice Chancellor, Registrar &amp; University Leadership</a:t>
            </a:r>
          </a:p>
          <a:p>
            <a:pPr algn="ctr">
              <a:spcBef>
                <a:spcPts val="600"/>
              </a:spcBef>
              <a:defRPr sz="1100">
                <a:solidFill>
                  <a:srgbClr val="CBD5E1"/>
                </a:solidFill>
                <a:latin typeface="Segoe UI"/>
              </a:defRPr>
            </a:pPr>
            <a:r>
              <a:t>Himachal Pradesh University, Summer Hill, Shimla (H.P.)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C59B27"/>
                </a:solidFill>
                <a:latin typeface="Segoe UI"/>
              </a:defRPr>
            </a:pPr>
            <a:r>
              <a:t>STRATEGIC VISION</a:t>
            </a:r>
          </a:p>
          <a:p>
            <a:pPr>
              <a:spcBef>
                <a:spcPts val="300"/>
              </a:spcBef>
              <a:defRPr sz="2200" b="1">
                <a:solidFill>
                  <a:srgbClr val="133A26"/>
                </a:solidFill>
                <a:latin typeface="Segoe UI"/>
              </a:defRPr>
            </a:pPr>
            <a:r>
              <a:t>Executive Context: Modernizing Ph.D. Governance at HPU</a:t>
            </a:r>
          </a:p>
        </p:txBody>
      </p:sp>
      <p:pic>
        <p:nvPicPr>
          <p:cNvPr id="3" name="Picture 2" descr="hpu_logo.png"/>
          <p:cNvPicPr>
            <a:picLocks noChangeAspect="1"/>
          </p:cNvPicPr>
          <p:nvPr/>
        </p:nvPicPr>
        <p:blipFill>
          <a:blip r:embed="rId2"/>
          <a:stretch>
            <a:fillRect/>
          </a:stretch>
        </p:blipFill>
        <p:spPr>
          <a:xfrm>
            <a:off x="11064240" y="320040"/>
            <a:ext cx="777240" cy="777240"/>
          </a:xfrm>
          <a:prstGeom prst="rect">
            <a:avLst/>
          </a:prstGeom>
        </p:spPr>
      </p:pic>
      <p:sp>
        <p:nvSpPr>
          <p:cNvPr id="4" name="TextBox 3"/>
          <p:cNvSpPr txBox="1"/>
          <p:nvPr/>
        </p:nvSpPr>
        <p:spPr>
          <a:xfrm>
            <a:off x="731520" y="6355080"/>
            <a:ext cx="10728655" cy="365760"/>
          </a:xfrm>
          <a:prstGeom prst="rect">
            <a:avLst/>
          </a:prstGeom>
          <a:noFill/>
        </p:spPr>
        <p:txBody>
          <a:bodyPr wrap="square" lIns="0" tIns="0" rIns="0" bIns="0">
            <a:spAutoFit/>
          </a:bodyPr>
          <a:lstStyle/>
          <a:p>
            <a:pPr>
              <a:defRPr sz="900">
                <a:solidFill>
                  <a:srgbClr val="475569"/>
                </a:solidFill>
                <a:latin typeface="Segoe UI"/>
              </a:defRPr>
            </a:pPr>
            <a:r>
              <a:t>Himachal Pradesh University, Shimla  |  ScholarHub Digital Research &amp; Governance Ecosystem  |  Slide 2 of 25</a:t>
            </a:r>
          </a:p>
        </p:txBody>
      </p:sp>
      <p:sp>
        <p:nvSpPr>
          <p:cNvPr id="5" name="Rounded Rectangle 4"/>
          <p:cNvSpPr/>
          <p:nvPr/>
        </p:nvSpPr>
        <p:spPr>
          <a:xfrm>
            <a:off x="731520" y="146304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2800" b="1">
                <a:solidFill>
                  <a:srgbClr val="DC2626"/>
                </a:solidFill>
                <a:latin typeface="Segoe UI"/>
              </a:defRPr>
            </a:pPr>
            <a:r>
              <a:t>01</a:t>
            </a:r>
          </a:p>
          <a:p>
            <a:pPr>
              <a:spcBef>
                <a:spcPts val="400"/>
              </a:spcBef>
              <a:defRPr sz="1600" b="1">
                <a:solidFill>
                  <a:srgbClr val="0F172A"/>
                </a:solidFill>
                <a:latin typeface="Segoe UI"/>
              </a:defRPr>
            </a:pPr>
            <a:r>
              <a:t>The Legacy Challenge</a:t>
            </a:r>
          </a:p>
          <a:p>
            <a:pPr>
              <a:spcBef>
                <a:spcPts val="200"/>
              </a:spcBef>
              <a:defRPr sz="1100">
                <a:solidFill>
                  <a:srgbClr val="475569"/>
                </a:solidFill>
                <a:latin typeface="Segoe UI"/>
              </a:defRPr>
            </a:pPr>
            <a:r>
              <a:t>Paper-Heavy &amp; Fragmented</a:t>
            </a:r>
          </a:p>
          <a:p>
            <a:pPr>
              <a:spcBef>
                <a:spcPts val="800"/>
              </a:spcBef>
              <a:defRPr sz="1100">
                <a:solidFill>
                  <a:srgbClr val="0F172A"/>
                </a:solidFill>
                <a:latin typeface="Segoe UI"/>
              </a:defRPr>
            </a:pPr>
            <a:r>
              <a:t>• Ph.D. lifecycle files moving across physical desks for months.</a:t>
            </a:r>
          </a:p>
          <a:p>
            <a:pPr>
              <a:spcBef>
                <a:spcPts val="800"/>
              </a:spcBef>
              <a:defRPr sz="1100">
                <a:solidFill>
                  <a:srgbClr val="0F172A"/>
                </a:solidFill>
                <a:latin typeface="Segoe UI"/>
              </a:defRPr>
            </a:pPr>
            <a:r>
              <a:t>• Lack of unified tracking for RAC reviews, coursework &amp; synopsis.</a:t>
            </a:r>
          </a:p>
          <a:p>
            <a:pPr>
              <a:spcBef>
                <a:spcPts val="800"/>
              </a:spcBef>
              <a:defRPr sz="1100">
                <a:solidFill>
                  <a:srgbClr val="0F172A"/>
                </a:solidFill>
                <a:latin typeface="Segoe UI"/>
              </a:defRPr>
            </a:pPr>
            <a:r>
              <a:t>• Disparate paper registers for scholar attendance &amp; leave records.</a:t>
            </a:r>
          </a:p>
          <a:p>
            <a:pPr>
              <a:spcBef>
                <a:spcPts val="800"/>
              </a:spcBef>
              <a:defRPr sz="1100">
                <a:solidFill>
                  <a:srgbClr val="0F172A"/>
                </a:solidFill>
                <a:latin typeface="Segoe UI"/>
              </a:defRPr>
            </a:pPr>
            <a:r>
              <a:t>• Difficult manual collation of research metrics during NAAC/NIRF audits.</a:t>
            </a:r>
          </a:p>
        </p:txBody>
      </p:sp>
      <p:sp>
        <p:nvSpPr>
          <p:cNvPr id="6" name="Rounded Rectangle 5"/>
          <p:cNvSpPr/>
          <p:nvPr/>
        </p:nvSpPr>
        <p:spPr>
          <a:xfrm>
            <a:off x="4389120" y="146304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2800" b="1">
                <a:solidFill>
                  <a:srgbClr val="1B4332"/>
                </a:solidFill>
                <a:latin typeface="Segoe UI"/>
              </a:defRPr>
            </a:pPr>
            <a:r>
              <a:t>02</a:t>
            </a:r>
          </a:p>
          <a:p>
            <a:pPr>
              <a:spcBef>
                <a:spcPts val="400"/>
              </a:spcBef>
              <a:defRPr sz="1600" b="1">
                <a:solidFill>
                  <a:srgbClr val="0F172A"/>
                </a:solidFill>
                <a:latin typeface="Segoe UI"/>
              </a:defRPr>
            </a:pPr>
            <a:r>
              <a:t>The ScholarHub Vision</a:t>
            </a:r>
          </a:p>
          <a:p>
            <a:pPr>
              <a:spcBef>
                <a:spcPts val="200"/>
              </a:spcBef>
              <a:defRPr sz="1100">
                <a:solidFill>
                  <a:srgbClr val="475569"/>
                </a:solidFill>
                <a:latin typeface="Segoe UI"/>
              </a:defRPr>
            </a:pPr>
            <a:r>
              <a:t>Zero-Paper Digital Trust</a:t>
            </a:r>
          </a:p>
          <a:p>
            <a:pPr>
              <a:spcBef>
                <a:spcPts val="800"/>
              </a:spcBef>
              <a:defRPr sz="1100">
                <a:solidFill>
                  <a:srgbClr val="0F172A"/>
                </a:solidFill>
                <a:latin typeface="Segoe UI"/>
              </a:defRPr>
            </a:pPr>
            <a:r>
              <a:t>• Unified monorepo connecting all departments under one portal.</a:t>
            </a:r>
          </a:p>
          <a:p>
            <a:pPr>
              <a:spcBef>
                <a:spcPts val="800"/>
              </a:spcBef>
              <a:defRPr sz="1100">
                <a:solidFill>
                  <a:srgbClr val="0F172A"/>
                </a:solidFill>
                <a:latin typeface="Segoe UI"/>
              </a:defRPr>
            </a:pPr>
            <a:r>
              <a:t>• End-to-end transparent doctoral lifecycle tracking from admission to degree.</a:t>
            </a:r>
          </a:p>
          <a:p>
            <a:pPr>
              <a:spcBef>
                <a:spcPts val="800"/>
              </a:spcBef>
              <a:defRPr sz="1100">
                <a:solidFill>
                  <a:srgbClr val="0F172A"/>
                </a:solidFill>
                <a:latin typeface="Segoe UI"/>
              </a:defRPr>
            </a:pPr>
            <a:r>
              <a:t>• Live biometric &amp; digital attendance tied to fellowship disbursements.</a:t>
            </a:r>
          </a:p>
          <a:p>
            <a:pPr>
              <a:spcBef>
                <a:spcPts val="800"/>
              </a:spcBef>
              <a:defRPr sz="1100">
                <a:solidFill>
                  <a:srgbClr val="0F172A"/>
                </a:solidFill>
                <a:latin typeface="Segoe UI"/>
              </a:defRPr>
            </a:pPr>
            <a:r>
              <a:t>• Instant, verifiable data extraction for statutory UGC &amp; NAAC inspections.</a:t>
            </a:r>
          </a:p>
        </p:txBody>
      </p:sp>
      <p:sp>
        <p:nvSpPr>
          <p:cNvPr id="7" name="Rounded Rectangle 6"/>
          <p:cNvSpPr/>
          <p:nvPr/>
        </p:nvSpPr>
        <p:spPr>
          <a:xfrm>
            <a:off x="8046720" y="146304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2800" b="1">
                <a:solidFill>
                  <a:srgbClr val="C59B27"/>
                </a:solidFill>
                <a:latin typeface="Segoe UI"/>
              </a:defRPr>
            </a:pPr>
            <a:r>
              <a:t>03</a:t>
            </a:r>
          </a:p>
          <a:p>
            <a:pPr>
              <a:spcBef>
                <a:spcPts val="400"/>
              </a:spcBef>
              <a:defRPr sz="1600" b="1">
                <a:solidFill>
                  <a:srgbClr val="0F172A"/>
                </a:solidFill>
                <a:latin typeface="Segoe UI"/>
              </a:defRPr>
            </a:pPr>
            <a:r>
              <a:t>Direct Leadership Impact</a:t>
            </a:r>
          </a:p>
          <a:p>
            <a:pPr>
              <a:spcBef>
                <a:spcPts val="200"/>
              </a:spcBef>
              <a:defRPr sz="1100">
                <a:solidFill>
                  <a:srgbClr val="475569"/>
                </a:solidFill>
                <a:latin typeface="Segoe UI"/>
              </a:defRPr>
            </a:pPr>
            <a:r>
              <a:t>Control, Speed &amp; Prestige</a:t>
            </a:r>
          </a:p>
          <a:p>
            <a:pPr>
              <a:spcBef>
                <a:spcPts val="800"/>
              </a:spcBef>
              <a:defRPr sz="1100">
                <a:solidFill>
                  <a:srgbClr val="0F172A"/>
                </a:solidFill>
                <a:latin typeface="Segoe UI"/>
              </a:defRPr>
            </a:pPr>
            <a:r>
              <a:t>• Real-time institutional oversight on VC and Dean dashboards.</a:t>
            </a:r>
          </a:p>
          <a:p>
            <a:pPr>
              <a:spcBef>
                <a:spcPts val="800"/>
              </a:spcBef>
              <a:defRPr sz="1100">
                <a:solidFill>
                  <a:srgbClr val="0F172A"/>
                </a:solidFill>
                <a:latin typeface="Segoe UI"/>
              </a:defRPr>
            </a:pPr>
            <a:r>
              <a:t>• Zero risk of proxy attendance or audit vulnerabilities in stipends.</a:t>
            </a:r>
          </a:p>
          <a:p>
            <a:pPr>
              <a:spcBef>
                <a:spcPts val="800"/>
              </a:spcBef>
              <a:defRPr sz="1100">
                <a:solidFill>
                  <a:srgbClr val="0F172A"/>
                </a:solidFill>
                <a:latin typeface="Segoe UI"/>
              </a:defRPr>
            </a:pPr>
            <a:r>
              <a:t>• Elevates HPU's NIRF Perception &amp; NAAC Criterion 3 scoring.</a:t>
            </a:r>
          </a:p>
          <a:p>
            <a:pPr>
              <a:spcBef>
                <a:spcPts val="800"/>
              </a:spcBef>
              <a:defRPr sz="1100">
                <a:solidFill>
                  <a:srgbClr val="0F172A"/>
                </a:solidFill>
                <a:latin typeface="Segoe UI"/>
              </a:defRPr>
            </a:pPr>
            <a:r>
              <a:t>• Empowers scholars and supervisors with transparent digital timelines.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C59B27"/>
                </a:solidFill>
                <a:latin typeface="Segoe UI"/>
              </a:defRPr>
            </a:pPr>
            <a:r>
              <a:t>PORTAL 1: GATEWAY</a:t>
            </a:r>
          </a:p>
          <a:p>
            <a:pPr>
              <a:spcBef>
                <a:spcPts val="300"/>
              </a:spcBef>
              <a:defRPr sz="2200" b="1">
                <a:solidFill>
                  <a:srgbClr val="133A26"/>
                </a:solidFill>
                <a:latin typeface="Segoe UI"/>
              </a:defRPr>
            </a:pPr>
            <a:r>
              <a:t>The Central Gateway: Unified Digital Entrance for HPU</a:t>
            </a:r>
          </a:p>
        </p:txBody>
      </p:sp>
      <p:pic>
        <p:nvPicPr>
          <p:cNvPr id="3" name="Picture 2" descr="hpu_logo.png"/>
          <p:cNvPicPr>
            <a:picLocks noChangeAspect="1"/>
          </p:cNvPicPr>
          <p:nvPr/>
        </p:nvPicPr>
        <p:blipFill>
          <a:blip r:embed="rId2"/>
          <a:stretch>
            <a:fillRect/>
          </a:stretch>
        </p:blipFill>
        <p:spPr>
          <a:xfrm>
            <a:off x="11064240" y="320040"/>
            <a:ext cx="777240" cy="777240"/>
          </a:xfrm>
          <a:prstGeom prst="rect">
            <a:avLst/>
          </a:prstGeom>
        </p:spPr>
      </p:pic>
      <p:sp>
        <p:nvSpPr>
          <p:cNvPr id="4" name="TextBox 3"/>
          <p:cNvSpPr txBox="1"/>
          <p:nvPr/>
        </p:nvSpPr>
        <p:spPr>
          <a:xfrm>
            <a:off x="731520" y="6355080"/>
            <a:ext cx="10728655" cy="365760"/>
          </a:xfrm>
          <a:prstGeom prst="rect">
            <a:avLst/>
          </a:prstGeom>
          <a:noFill/>
        </p:spPr>
        <p:txBody>
          <a:bodyPr wrap="square" lIns="0" tIns="0" rIns="0" bIns="0">
            <a:spAutoFit/>
          </a:bodyPr>
          <a:lstStyle/>
          <a:p>
            <a:pPr>
              <a:defRPr sz="900">
                <a:solidFill>
                  <a:srgbClr val="475569"/>
                </a:solidFill>
                <a:latin typeface="Segoe UI"/>
              </a:defRPr>
            </a:pPr>
            <a:r>
              <a:t>Himachal Pradesh University, Shimla  |  ScholarHub Digital Research &amp; Governance Ecosystem  |  Slide 3 of 25</a:t>
            </a:r>
          </a:p>
        </p:txBody>
      </p:sp>
      <p:sp>
        <p:nvSpPr>
          <p:cNvPr id="5" name="TextBox 4"/>
          <p:cNvSpPr txBox="1"/>
          <p:nvPr/>
        </p:nvSpPr>
        <p:spPr>
          <a:xfrm>
            <a:off x="731520" y="1463040"/>
            <a:ext cx="5120640" cy="4572000"/>
          </a:xfrm>
          <a:prstGeom prst="rect">
            <a:avLst/>
          </a:prstGeom>
          <a:noFill/>
        </p:spPr>
        <p:txBody>
          <a:bodyPr wrap="square" lIns="0" rIns="0" tIns="0" bIns="0">
            <a:spAutoFit/>
          </a:bodyPr>
          <a:lstStyle/>
          <a:p>
            <a:pPr>
              <a:defRPr sz="1100" b="1">
                <a:solidFill>
                  <a:srgbClr val="0F766E"/>
                </a:solidFill>
                <a:latin typeface="Segoe UI"/>
              </a:defRPr>
            </a:pPr>
            <a:r>
              <a:t>WHAT IS THE GATEWAY?</a:t>
            </a:r>
          </a:p>
          <a:p>
            <a:pPr>
              <a:spcBef>
                <a:spcPts val="400"/>
              </a:spcBef>
              <a:defRPr sz="1800" b="1">
                <a:solidFill>
                  <a:srgbClr val="133A26"/>
                </a:solidFill>
                <a:latin typeface="Segoe UI"/>
              </a:defRPr>
            </a:pPr>
            <a:r>
              <a:t>The Single Unified Front Door (scholarhubhpu.in)</a:t>
            </a:r>
          </a:p>
          <a:p>
            <a:pPr>
              <a:spcBef>
                <a:spcPts val="800"/>
              </a:spcBef>
              <a:defRPr sz="1200">
                <a:solidFill>
                  <a:srgbClr val="0F172A"/>
                </a:solidFill>
                <a:latin typeface="Segoe UI"/>
              </a:defRPr>
            </a:pPr>
            <a:r>
              <a:t>The gateway serves as the central landing hub connecting all university academic modules. Instead of navigating separate, disjointed departmental systems, every student, faculty member, and external visitor enters through one verified official portal.</a:t>
            </a:r>
          </a:p>
          <a:p>
            <a:pPr>
              <a:spcBef>
                <a:spcPts val="1400"/>
              </a:spcBef>
              <a:defRPr sz="1100" b="1">
                <a:solidFill>
                  <a:srgbClr val="C59B27"/>
                </a:solidFill>
                <a:latin typeface="Segoe UI"/>
              </a:defRPr>
            </a:pPr>
            <a:r>
              <a:t>WHY IT WAS DEVELOPED:</a:t>
            </a:r>
          </a:p>
          <a:p>
            <a:pPr>
              <a:spcBef>
                <a:spcPts val="600"/>
              </a:spcBef>
              <a:defRPr sz="1100">
                <a:solidFill>
                  <a:srgbClr val="0F172A"/>
                </a:solidFill>
                <a:latin typeface="Segoe UI"/>
              </a:defRPr>
            </a:pPr>
            <a:r>
              <a:t>• Eliminates confusion between different departmental links and credentials.</a:t>
            </a:r>
          </a:p>
          <a:p>
            <a:pPr>
              <a:spcBef>
                <a:spcPts val="600"/>
              </a:spcBef>
              <a:defRPr sz="1100">
                <a:solidFill>
                  <a:srgbClr val="0F172A"/>
                </a:solidFill>
                <a:latin typeface="Segoe UI"/>
              </a:defRPr>
            </a:pPr>
            <a:r>
              <a:t>• Provides dynamic role routing: direct entry to Ph.D. Lifecycle (ScholarSync) or Attendance Engine (ScholarTrack).</a:t>
            </a:r>
          </a:p>
          <a:p>
            <a:pPr>
              <a:spcBef>
                <a:spcPts val="600"/>
              </a:spcBef>
              <a:defRPr sz="1100">
                <a:solidFill>
                  <a:srgbClr val="0F172A"/>
                </a:solidFill>
                <a:latin typeface="Segoe UI"/>
              </a:defRPr>
            </a:pPr>
            <a:r>
              <a:t>• Hosts the Public Academic Research Directory accessible worldwide.</a:t>
            </a:r>
          </a:p>
          <a:p>
            <a:pPr>
              <a:spcBef>
                <a:spcPts val="600"/>
              </a:spcBef>
              <a:defRPr sz="1100">
                <a:solidFill>
                  <a:srgbClr val="0F172A"/>
                </a:solidFill>
                <a:latin typeface="Segoe UI"/>
              </a:defRPr>
            </a:pPr>
            <a:r>
              <a:t>• Reinforces HPU's modern, prestigious digital identity with glassmorphic institutional branding.</a:t>
            </a:r>
          </a:p>
        </p:txBody>
      </p:sp>
      <p:sp>
        <p:nvSpPr>
          <p:cNvPr id="6" name="Rounded Rectangle 5"/>
          <p:cNvSpPr/>
          <p:nvPr/>
        </p:nvSpPr>
        <p:spPr>
          <a:xfrm>
            <a:off x="612648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1_gateway_hero.png"/>
          <p:cNvPicPr>
            <a:picLocks noChangeAspect="1"/>
          </p:cNvPicPr>
          <p:nvPr/>
        </p:nvPicPr>
        <p:blipFill>
          <a:blip r:embed="rId3"/>
          <a:stretch>
            <a:fillRect/>
          </a:stretch>
        </p:blipFill>
        <p:spPr>
          <a:xfrm>
            <a:off x="6199632" y="1444752"/>
            <a:ext cx="5157216" cy="4315968"/>
          </a:xfrm>
          <a:prstGeom prst="rect">
            <a:avLst/>
          </a:prstGeom>
        </p:spPr>
      </p:pic>
      <p:sp>
        <p:nvSpPr>
          <p:cNvPr id="8" name="TextBox 7"/>
          <p:cNvSpPr txBox="1"/>
          <p:nvPr/>
        </p:nvSpPr>
        <p:spPr>
          <a:xfrm>
            <a:off x="6199632" y="5815584"/>
            <a:ext cx="5157216" cy="292608"/>
          </a:xfrm>
          <a:prstGeom prst="rect">
            <a:avLst/>
          </a:prstGeom>
          <a:noFill/>
        </p:spPr>
        <p:txBody>
          <a:bodyPr wrap="none" tIns="0" bIns="0" lIns="0" rIns="0">
            <a:spAutoFit/>
          </a:bodyPr>
          <a:lstStyle/>
          <a:p>
            <a:pPr algn="ctr">
              <a:defRPr sz="850" b="1">
                <a:solidFill>
                  <a:srgbClr val="0F766E"/>
                </a:solidFill>
                <a:latin typeface="Segoe UI"/>
              </a:defRPr>
            </a:pPr>
            <a:r>
              <a:t>LIVE INTERFACE: HPU Student Services Central Gateway Landing Page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C59B27"/>
                </a:solidFill>
                <a:latin typeface="Segoe UI"/>
              </a:defRPr>
            </a:pPr>
            <a:r>
              <a:t>PORTAL 1: GATEWAY</a:t>
            </a:r>
          </a:p>
          <a:p>
            <a:pPr>
              <a:spcBef>
                <a:spcPts val="300"/>
              </a:spcBef>
              <a:defRPr sz="2200" b="1">
                <a:solidFill>
                  <a:srgbClr val="133A26"/>
                </a:solidFill>
                <a:latin typeface="Segoe UI"/>
              </a:defRPr>
            </a:pPr>
            <a:r>
              <a:t>Academic Research Directory: Showcasing HPU's Intellectual Wealth</a:t>
            </a:r>
          </a:p>
        </p:txBody>
      </p:sp>
      <p:pic>
        <p:nvPicPr>
          <p:cNvPr id="3" name="Picture 2" descr="hpu_logo.png"/>
          <p:cNvPicPr>
            <a:picLocks noChangeAspect="1"/>
          </p:cNvPicPr>
          <p:nvPr/>
        </p:nvPicPr>
        <p:blipFill>
          <a:blip r:embed="rId2"/>
          <a:stretch>
            <a:fillRect/>
          </a:stretch>
        </p:blipFill>
        <p:spPr>
          <a:xfrm>
            <a:off x="11064240" y="320040"/>
            <a:ext cx="777240" cy="777240"/>
          </a:xfrm>
          <a:prstGeom prst="rect">
            <a:avLst/>
          </a:prstGeom>
        </p:spPr>
      </p:pic>
      <p:sp>
        <p:nvSpPr>
          <p:cNvPr id="4" name="TextBox 3"/>
          <p:cNvSpPr txBox="1"/>
          <p:nvPr/>
        </p:nvSpPr>
        <p:spPr>
          <a:xfrm>
            <a:off x="731520" y="6355080"/>
            <a:ext cx="10728655" cy="365760"/>
          </a:xfrm>
          <a:prstGeom prst="rect">
            <a:avLst/>
          </a:prstGeom>
          <a:noFill/>
        </p:spPr>
        <p:txBody>
          <a:bodyPr wrap="square" lIns="0" tIns="0" rIns="0" bIns="0">
            <a:spAutoFit/>
          </a:bodyPr>
          <a:lstStyle/>
          <a:p>
            <a:pPr>
              <a:defRPr sz="900">
                <a:solidFill>
                  <a:srgbClr val="475569"/>
                </a:solidFill>
                <a:latin typeface="Segoe UI"/>
              </a:defRPr>
            </a:pPr>
            <a:r>
              <a:t>Himachal Pradesh University, Shimla  |  ScholarHub Digital Research &amp; Governance Ecosystem  |  Slide 4 of 25</a:t>
            </a:r>
          </a:p>
        </p:txBody>
      </p:sp>
      <p:sp>
        <p:nvSpPr>
          <p:cNvPr id="5" name="TextBox 4"/>
          <p:cNvSpPr txBox="1"/>
          <p:nvPr/>
        </p:nvSpPr>
        <p:spPr>
          <a:xfrm>
            <a:off x="731520" y="1463040"/>
            <a:ext cx="5120640" cy="4572000"/>
          </a:xfrm>
          <a:prstGeom prst="rect">
            <a:avLst/>
          </a:prstGeom>
          <a:noFill/>
        </p:spPr>
        <p:txBody>
          <a:bodyPr wrap="square" lIns="0" rIns="0" tIns="0" bIns="0">
            <a:spAutoFit/>
          </a:bodyPr>
          <a:lstStyle/>
          <a:p>
            <a:pPr>
              <a:defRPr sz="1100" b="1">
                <a:solidFill>
                  <a:srgbClr val="0F766E"/>
                </a:solidFill>
                <a:latin typeface="Segoe UI"/>
              </a:defRPr>
            </a:pPr>
            <a:r>
              <a:t>PUBLIC RESEARCH DISCOVERY &amp; TRANSPARENCY</a:t>
            </a:r>
          </a:p>
          <a:p>
            <a:pPr>
              <a:spcBef>
                <a:spcPts val="400"/>
              </a:spcBef>
              <a:defRPr sz="1800" b="1">
                <a:solidFill>
                  <a:srgbClr val="133A26"/>
                </a:solidFill>
                <a:latin typeface="Segoe UI"/>
              </a:defRPr>
            </a:pPr>
            <a:r>
              <a:t>A Window to Global Academic Collaborations</a:t>
            </a:r>
          </a:p>
          <a:p>
            <a:pPr>
              <a:spcBef>
                <a:spcPts val="800"/>
              </a:spcBef>
              <a:defRPr sz="1200">
                <a:solidFill>
                  <a:srgbClr val="0F172A"/>
                </a:solidFill>
                <a:latin typeface="Segoe UI"/>
              </a:defRPr>
            </a:pPr>
            <a:r>
              <a:t>A live, searchable public repository displaying all HPU academic departments, approved research supervisors, enrolled doctoral scholars, and active research thrust areas.</a:t>
            </a:r>
          </a:p>
          <a:p>
            <a:pPr>
              <a:spcBef>
                <a:spcPts val="1200"/>
              </a:spcBef>
              <a:defRPr sz="1100" b="1">
                <a:solidFill>
                  <a:srgbClr val="C59B27"/>
                </a:solidFill>
                <a:latin typeface="Segoe UI"/>
              </a:defRPr>
            </a:pPr>
            <a:r>
              <a:t>KEY UNIVERSITY BENEFITS:</a:t>
            </a:r>
          </a:p>
          <a:p>
            <a:pPr>
              <a:spcBef>
                <a:spcPts val="600"/>
              </a:spcBef>
              <a:defRPr sz="1100">
                <a:solidFill>
                  <a:srgbClr val="0F172A"/>
                </a:solidFill>
                <a:latin typeface="Segoe UI"/>
              </a:defRPr>
            </a:pPr>
            <a:r>
              <a:t>• Attracts National &amp; Global Funding: Agencies (DST, DBT, CSIR, ICSSR) can instantly discover HPU's domain capabilities.</a:t>
            </a:r>
          </a:p>
          <a:p>
            <a:pPr>
              <a:spcBef>
                <a:spcPts val="600"/>
              </a:spcBef>
              <a:defRPr sz="1100">
                <a:solidFill>
                  <a:srgbClr val="0F172A"/>
                </a:solidFill>
                <a:latin typeface="Segoe UI"/>
              </a:defRPr>
            </a:pPr>
            <a:r>
              <a:t>• Boosts NIRF 'Perception' Rating: Public scholarly profiles raise academic visibility across India.</a:t>
            </a:r>
          </a:p>
          <a:p>
            <a:pPr>
              <a:spcBef>
                <a:spcPts val="600"/>
              </a:spcBef>
              <a:defRPr sz="1100">
                <a:solidFill>
                  <a:srgbClr val="0F172A"/>
                </a:solidFill>
                <a:latin typeface="Segoe UI"/>
              </a:defRPr>
            </a:pPr>
            <a:r>
              <a:t>• Encourages Interdisciplinary Research: Scholars across faculties easily find co-supervisors and joint project partners.</a:t>
            </a:r>
          </a:p>
          <a:p>
            <a:pPr>
              <a:spcBef>
                <a:spcPts val="600"/>
              </a:spcBef>
              <a:defRPr sz="1100">
                <a:solidFill>
                  <a:srgbClr val="0F172A"/>
                </a:solidFill>
                <a:latin typeface="Segoe UI"/>
              </a:defRPr>
            </a:pPr>
            <a:r>
              <a:t>• Who is it for? Prospective doctoral candidates, peer universities, industry R&amp;D partners, and NAAC peer reviewers.</a:t>
            </a:r>
          </a:p>
        </p:txBody>
      </p:sp>
      <p:sp>
        <p:nvSpPr>
          <p:cNvPr id="6" name="Rounded Rectangle 5"/>
          <p:cNvSpPr/>
          <p:nvPr/>
        </p:nvSpPr>
        <p:spPr>
          <a:xfrm>
            <a:off x="612648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3_academic_directory.png"/>
          <p:cNvPicPr>
            <a:picLocks noChangeAspect="1"/>
          </p:cNvPicPr>
          <p:nvPr/>
        </p:nvPicPr>
        <p:blipFill>
          <a:blip r:embed="rId3"/>
          <a:stretch>
            <a:fillRect/>
          </a:stretch>
        </p:blipFill>
        <p:spPr>
          <a:xfrm>
            <a:off x="6199632" y="1444752"/>
            <a:ext cx="5157216" cy="4315968"/>
          </a:xfrm>
          <a:prstGeom prst="rect">
            <a:avLst/>
          </a:prstGeom>
        </p:spPr>
      </p:pic>
      <p:sp>
        <p:nvSpPr>
          <p:cNvPr id="8" name="TextBox 7"/>
          <p:cNvSpPr txBox="1"/>
          <p:nvPr/>
        </p:nvSpPr>
        <p:spPr>
          <a:xfrm>
            <a:off x="6199632" y="5815584"/>
            <a:ext cx="5157216" cy="292608"/>
          </a:xfrm>
          <a:prstGeom prst="rect">
            <a:avLst/>
          </a:prstGeom>
          <a:noFill/>
        </p:spPr>
        <p:txBody>
          <a:bodyPr wrap="none" tIns="0" bIns="0" lIns="0" rIns="0">
            <a:spAutoFit/>
          </a:bodyPr>
          <a:lstStyle/>
          <a:p>
            <a:pPr algn="ctr">
              <a:defRPr sz="850" b="1">
                <a:solidFill>
                  <a:srgbClr val="0F766E"/>
                </a:solidFill>
                <a:latin typeface="Segoe UI"/>
              </a:defRPr>
            </a:pPr>
            <a:r>
              <a:t>LIVE INTERFACE: Public Academic Research Directory &amp; Department Explorer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C59B27"/>
                </a:solidFill>
                <a:latin typeface="Segoe UI"/>
              </a:defRPr>
            </a:pPr>
            <a:r>
              <a:t>PORTAL 2: RESEARCH MANAGEMENT</a:t>
            </a:r>
          </a:p>
          <a:p>
            <a:pPr>
              <a:spcBef>
                <a:spcPts val="300"/>
              </a:spcBef>
              <a:defRPr sz="2200" b="1">
                <a:solidFill>
                  <a:srgbClr val="133A26"/>
                </a:solidFill>
                <a:latin typeface="Segoe UI"/>
              </a:defRPr>
            </a:pPr>
            <a:r>
              <a:t>ScholarSync: Complete Ph.D. Lifecycle Tracking Engine</a:t>
            </a:r>
          </a:p>
        </p:txBody>
      </p:sp>
      <p:pic>
        <p:nvPicPr>
          <p:cNvPr id="3" name="Picture 2" descr="hpu_logo.png"/>
          <p:cNvPicPr>
            <a:picLocks noChangeAspect="1"/>
          </p:cNvPicPr>
          <p:nvPr/>
        </p:nvPicPr>
        <p:blipFill>
          <a:blip r:embed="rId2"/>
          <a:stretch>
            <a:fillRect/>
          </a:stretch>
        </p:blipFill>
        <p:spPr>
          <a:xfrm>
            <a:off x="11064240" y="320040"/>
            <a:ext cx="777240" cy="777240"/>
          </a:xfrm>
          <a:prstGeom prst="rect">
            <a:avLst/>
          </a:prstGeom>
        </p:spPr>
      </p:pic>
      <p:sp>
        <p:nvSpPr>
          <p:cNvPr id="4" name="TextBox 3"/>
          <p:cNvSpPr txBox="1"/>
          <p:nvPr/>
        </p:nvSpPr>
        <p:spPr>
          <a:xfrm>
            <a:off x="731520" y="6355080"/>
            <a:ext cx="10728655" cy="365760"/>
          </a:xfrm>
          <a:prstGeom prst="rect">
            <a:avLst/>
          </a:prstGeom>
          <a:noFill/>
        </p:spPr>
        <p:txBody>
          <a:bodyPr wrap="square" lIns="0" tIns="0" rIns="0" bIns="0">
            <a:spAutoFit/>
          </a:bodyPr>
          <a:lstStyle/>
          <a:p>
            <a:pPr>
              <a:defRPr sz="900">
                <a:solidFill>
                  <a:srgbClr val="475569"/>
                </a:solidFill>
                <a:latin typeface="Segoe UI"/>
              </a:defRPr>
            </a:pPr>
            <a:r>
              <a:t>Himachal Pradesh University, Shimla  |  ScholarHub Digital Research &amp; Governance Ecosystem  |  Slide 5 of 25</a:t>
            </a:r>
          </a:p>
        </p:txBody>
      </p:sp>
      <p:sp>
        <p:nvSpPr>
          <p:cNvPr id="5" name="TextBox 4"/>
          <p:cNvSpPr txBox="1"/>
          <p:nvPr/>
        </p:nvSpPr>
        <p:spPr>
          <a:xfrm>
            <a:off x="731520" y="1463040"/>
            <a:ext cx="5120640" cy="4572000"/>
          </a:xfrm>
          <a:prstGeom prst="rect">
            <a:avLst/>
          </a:prstGeom>
          <a:noFill/>
        </p:spPr>
        <p:txBody>
          <a:bodyPr wrap="square" lIns="0" rIns="0" tIns="0" bIns="0">
            <a:spAutoFit/>
          </a:bodyPr>
          <a:lstStyle/>
          <a:p>
            <a:pPr>
              <a:defRPr sz="1100" b="1">
                <a:solidFill>
                  <a:srgbClr val="0F766E"/>
                </a:solidFill>
                <a:latin typeface="Segoe UI"/>
              </a:defRPr>
            </a:pPr>
            <a:r>
              <a:t>RESEARCH MANAGEMENT SYSTEM (RMS)</a:t>
            </a:r>
          </a:p>
          <a:p>
            <a:pPr>
              <a:spcBef>
                <a:spcPts val="400"/>
              </a:spcBef>
              <a:defRPr sz="1800" b="1">
                <a:solidFill>
                  <a:srgbClr val="133A26"/>
                </a:solidFill>
                <a:latin typeface="Segoe UI"/>
              </a:defRPr>
            </a:pPr>
            <a:r>
              <a:t>Transforming Doctoral Administration</a:t>
            </a:r>
          </a:p>
          <a:p>
            <a:pPr>
              <a:spcBef>
                <a:spcPts val="800"/>
              </a:spcBef>
              <a:defRPr sz="1200">
                <a:solidFill>
                  <a:srgbClr val="0F172A"/>
                </a:solidFill>
                <a:latin typeface="Segoe UI"/>
              </a:defRPr>
            </a:pPr>
            <a:r>
              <a:t>ScholarSync (sync.scholarhubhpu.in) is a purpose-built doctoral lifecycle automation platform guiding every candidate from their first day of enrollment to the final Viva-Voce defense and degree award.</a:t>
            </a:r>
          </a:p>
          <a:p>
            <a:pPr>
              <a:spcBef>
                <a:spcPts val="1200"/>
              </a:spcBef>
              <a:defRPr sz="1100" b="1">
                <a:solidFill>
                  <a:srgbClr val="C59B27"/>
                </a:solidFill>
                <a:latin typeface="Segoe UI"/>
              </a:defRPr>
            </a:pPr>
            <a:r>
              <a:t>WHY IT WAS CREATED FOR HPU:</a:t>
            </a:r>
          </a:p>
          <a:p>
            <a:pPr>
              <a:spcBef>
                <a:spcPts val="600"/>
              </a:spcBef>
              <a:defRPr sz="1100">
                <a:solidFill>
                  <a:srgbClr val="0F172A"/>
                </a:solidFill>
                <a:latin typeface="Segoe UI"/>
              </a:defRPr>
            </a:pPr>
            <a:r>
              <a:t>• Replaces bulky physical files that get stuck during inter-departmental transfers.</a:t>
            </a:r>
          </a:p>
          <a:p>
            <a:pPr>
              <a:spcBef>
                <a:spcPts val="600"/>
              </a:spcBef>
              <a:defRPr sz="1100">
                <a:solidFill>
                  <a:srgbClr val="0F172A"/>
                </a:solidFill>
                <a:latin typeface="Segoe UI"/>
              </a:defRPr>
            </a:pPr>
            <a:r>
              <a:t>• Guarantees compliance with UGC (Minimum Standards for Award of Ph.D.) Regulations.</a:t>
            </a:r>
          </a:p>
          <a:p>
            <a:pPr>
              <a:spcBef>
                <a:spcPts val="600"/>
              </a:spcBef>
              <a:defRPr sz="1100">
                <a:solidFill>
                  <a:srgbClr val="0F172A"/>
                </a:solidFill>
                <a:latin typeface="Segoe UI"/>
              </a:defRPr>
            </a:pPr>
            <a:r>
              <a:t>• Automates notifications for every milestone: Coursework, Synopsis, DRC, RAC, Viva.</a:t>
            </a:r>
          </a:p>
          <a:p>
            <a:pPr>
              <a:spcBef>
                <a:spcPts val="600"/>
              </a:spcBef>
              <a:defRPr sz="1100">
                <a:solidFill>
                  <a:srgbClr val="0F172A"/>
                </a:solidFill>
                <a:latin typeface="Segoe UI"/>
              </a:defRPr>
            </a:pPr>
            <a:r>
              <a:t>• Who is it for? Ph.D. Scholars, Research Guides, DRC/RAC Committee Members, Department HODs, Dean of Studies, and Vice Chancellor.</a:t>
            </a:r>
          </a:p>
        </p:txBody>
      </p:sp>
      <p:sp>
        <p:nvSpPr>
          <p:cNvPr id="6" name="Rounded Rectangle 5"/>
          <p:cNvSpPr/>
          <p:nvPr/>
        </p:nvSpPr>
        <p:spPr>
          <a:xfrm>
            <a:off x="612648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5_sync_phd_lifecycle_workflow.png"/>
          <p:cNvPicPr>
            <a:picLocks noChangeAspect="1"/>
          </p:cNvPicPr>
          <p:nvPr/>
        </p:nvPicPr>
        <p:blipFill>
          <a:blip r:embed="rId3"/>
          <a:stretch>
            <a:fillRect/>
          </a:stretch>
        </p:blipFill>
        <p:spPr>
          <a:xfrm>
            <a:off x="6199632" y="1444752"/>
            <a:ext cx="5157216" cy="4315968"/>
          </a:xfrm>
          <a:prstGeom prst="rect">
            <a:avLst/>
          </a:prstGeom>
        </p:spPr>
      </p:pic>
      <p:sp>
        <p:nvSpPr>
          <p:cNvPr id="8" name="TextBox 7"/>
          <p:cNvSpPr txBox="1"/>
          <p:nvPr/>
        </p:nvSpPr>
        <p:spPr>
          <a:xfrm>
            <a:off x="6199632" y="5815584"/>
            <a:ext cx="5157216" cy="292608"/>
          </a:xfrm>
          <a:prstGeom prst="rect">
            <a:avLst/>
          </a:prstGeom>
          <a:noFill/>
        </p:spPr>
        <p:txBody>
          <a:bodyPr wrap="none" tIns="0" bIns="0" lIns="0" rIns="0">
            <a:spAutoFit/>
          </a:bodyPr>
          <a:lstStyle/>
          <a:p>
            <a:pPr algn="ctr">
              <a:defRPr sz="850" b="1">
                <a:solidFill>
                  <a:srgbClr val="0F766E"/>
                </a:solidFill>
                <a:latin typeface="Segoe UI"/>
              </a:defRPr>
            </a:pPr>
            <a:r>
              <a:t>LIVE INTERFACE: Complete Interactive Ph.D. Lifecycle Workflow Map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C59B27"/>
                </a:solidFill>
                <a:latin typeface="Segoe UI"/>
              </a:defRPr>
            </a:pPr>
            <a:r>
              <a:t>CORE UNIVERSITY BENEFIT</a:t>
            </a:r>
          </a:p>
          <a:p>
            <a:pPr>
              <a:spcBef>
                <a:spcPts val="300"/>
              </a:spcBef>
              <a:defRPr sz="2200" b="1">
                <a:solidFill>
                  <a:srgbClr val="133A26"/>
                </a:solidFill>
                <a:latin typeface="Segoe UI"/>
              </a:defRPr>
            </a:pPr>
            <a:r>
              <a:t>Institutional Impact: Automated NAAC &amp; NIRF Data Readiness</a:t>
            </a:r>
          </a:p>
        </p:txBody>
      </p:sp>
      <p:pic>
        <p:nvPicPr>
          <p:cNvPr id="3" name="Picture 2" descr="hpu_logo.png"/>
          <p:cNvPicPr>
            <a:picLocks noChangeAspect="1"/>
          </p:cNvPicPr>
          <p:nvPr/>
        </p:nvPicPr>
        <p:blipFill>
          <a:blip r:embed="rId2"/>
          <a:stretch>
            <a:fillRect/>
          </a:stretch>
        </p:blipFill>
        <p:spPr>
          <a:xfrm>
            <a:off x="11064240" y="320040"/>
            <a:ext cx="777240" cy="777240"/>
          </a:xfrm>
          <a:prstGeom prst="rect">
            <a:avLst/>
          </a:prstGeom>
        </p:spPr>
      </p:pic>
      <p:sp>
        <p:nvSpPr>
          <p:cNvPr id="4" name="TextBox 3"/>
          <p:cNvSpPr txBox="1"/>
          <p:nvPr/>
        </p:nvSpPr>
        <p:spPr>
          <a:xfrm>
            <a:off x="731520" y="6355080"/>
            <a:ext cx="10728655" cy="365760"/>
          </a:xfrm>
          <a:prstGeom prst="rect">
            <a:avLst/>
          </a:prstGeom>
          <a:noFill/>
        </p:spPr>
        <p:txBody>
          <a:bodyPr wrap="square" lIns="0" tIns="0" rIns="0" bIns="0">
            <a:spAutoFit/>
          </a:bodyPr>
          <a:lstStyle/>
          <a:p>
            <a:pPr>
              <a:defRPr sz="900">
                <a:solidFill>
                  <a:srgbClr val="475569"/>
                </a:solidFill>
                <a:latin typeface="Segoe UI"/>
              </a:defRPr>
            </a:pPr>
            <a:r>
              <a:t>Himachal Pradesh University, Shimla  |  ScholarHub Digital Research &amp; Governance Ecosystem  |  Slide 6 of 25</a:t>
            </a:r>
          </a:p>
        </p:txBody>
      </p:sp>
      <p:sp>
        <p:nvSpPr>
          <p:cNvPr id="5" name="Rounded Rectangle 4"/>
          <p:cNvSpPr/>
          <p:nvPr/>
        </p:nvSpPr>
        <p:spPr>
          <a:xfrm>
            <a:off x="731520" y="1463040"/>
            <a:ext cx="5120640" cy="2148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000" b="1">
                <a:solidFill>
                  <a:srgbClr val="C59B27"/>
                </a:solidFill>
                <a:latin typeface="Segoe UI"/>
              </a:defRPr>
            </a:pPr>
            <a:r>
              <a:t>NAAC CRITERION 3.1 &amp; 3.2</a:t>
            </a:r>
          </a:p>
          <a:p>
            <a:pPr>
              <a:spcBef>
                <a:spcPts val="300"/>
              </a:spcBef>
              <a:defRPr sz="1400" b="1">
                <a:solidFill>
                  <a:srgbClr val="133A26"/>
                </a:solidFill>
                <a:latin typeface="Segoe UI"/>
              </a:defRPr>
            </a:pPr>
            <a:r>
              <a:t>Grants, Innovations &amp; Patents Tracking</a:t>
            </a:r>
          </a:p>
          <a:p>
            <a:pPr>
              <a:spcBef>
                <a:spcPts val="500"/>
              </a:spcBef>
              <a:defRPr sz="1100">
                <a:solidFill>
                  <a:srgbClr val="475569"/>
                </a:solidFill>
                <a:latin typeface="Segoe UI"/>
              </a:defRPr>
            </a:pPr>
            <a:r>
              <a:t>Automatically catalogues all sanctioned extramural research grants (DST, ICSSR, UGC), funding amounts, research labs, and intellectual property/patents filed by university faculty.</a:t>
            </a:r>
          </a:p>
        </p:txBody>
      </p:sp>
      <p:sp>
        <p:nvSpPr>
          <p:cNvPr id="6" name="Rounded Rectangle 5"/>
          <p:cNvSpPr/>
          <p:nvPr/>
        </p:nvSpPr>
        <p:spPr>
          <a:xfrm>
            <a:off x="6217920" y="1463040"/>
            <a:ext cx="5120640" cy="2148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000" b="1">
                <a:solidFill>
                  <a:srgbClr val="C59B27"/>
                </a:solidFill>
                <a:latin typeface="Segoe UI"/>
              </a:defRPr>
            </a:pPr>
            <a:r>
              <a:t>NAAC CRITERION 3.4.2</a:t>
            </a:r>
          </a:p>
          <a:p>
            <a:pPr>
              <a:spcBef>
                <a:spcPts val="300"/>
              </a:spcBef>
              <a:defRPr sz="1400" b="1">
                <a:solidFill>
                  <a:srgbClr val="133A26"/>
                </a:solidFill>
                <a:latin typeface="Segoe UI"/>
              </a:defRPr>
            </a:pPr>
            <a:r>
              <a:t>Ph.D. Candidates Awarded per Guide</a:t>
            </a:r>
          </a:p>
          <a:p>
            <a:pPr>
              <a:spcBef>
                <a:spcPts val="500"/>
              </a:spcBef>
              <a:defRPr sz="1100">
                <a:solidFill>
                  <a:srgbClr val="475569"/>
                </a:solidFill>
                <a:latin typeface="Segoe UI"/>
              </a:defRPr>
            </a:pPr>
            <a:r>
              <a:t>Maintains an immutable digital ledger of Ph.D. completion turnaround times, registered guides, and degree award dates with zero discrepancy during peer team verifications.</a:t>
            </a:r>
          </a:p>
        </p:txBody>
      </p:sp>
      <p:sp>
        <p:nvSpPr>
          <p:cNvPr id="7" name="Rounded Rectangle 6"/>
          <p:cNvSpPr/>
          <p:nvPr/>
        </p:nvSpPr>
        <p:spPr>
          <a:xfrm>
            <a:off x="731520" y="3840480"/>
            <a:ext cx="5120640" cy="2148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000" b="1">
                <a:solidFill>
                  <a:srgbClr val="C59B27"/>
                </a:solidFill>
                <a:latin typeface="Segoe UI"/>
              </a:defRPr>
            </a:pPr>
            <a:r>
              <a:t>NAAC CRITERION 3.4.5 &amp; 3.4.6</a:t>
            </a:r>
          </a:p>
          <a:p>
            <a:pPr>
              <a:spcBef>
                <a:spcPts val="300"/>
              </a:spcBef>
              <a:defRPr sz="1400" b="1">
                <a:solidFill>
                  <a:srgbClr val="133A26"/>
                </a:solidFill>
                <a:latin typeface="Segoe UI"/>
              </a:defRPr>
            </a:pPr>
            <a:r>
              <a:t>Scopus &amp; UGC CARE Publications</a:t>
            </a:r>
          </a:p>
          <a:p>
            <a:pPr>
              <a:spcBef>
                <a:spcPts val="500"/>
              </a:spcBef>
              <a:defRPr sz="1100">
                <a:solidFill>
                  <a:srgbClr val="475569"/>
                </a:solidFill>
                <a:latin typeface="Segoe UI"/>
              </a:defRPr>
            </a:pPr>
            <a:r>
              <a:t>Digital validation of research papers with DOI, Scopus indexing, and UGC CARE category verification before any scholar is permitted to submit their final thesis.</a:t>
            </a:r>
          </a:p>
        </p:txBody>
      </p:sp>
      <p:sp>
        <p:nvSpPr>
          <p:cNvPr id="8" name="Rounded Rectangle 7"/>
          <p:cNvSpPr/>
          <p:nvPr/>
        </p:nvSpPr>
        <p:spPr>
          <a:xfrm>
            <a:off x="6217920" y="3840480"/>
            <a:ext cx="5120640" cy="2148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000" b="1">
                <a:solidFill>
                  <a:srgbClr val="C59B27"/>
                </a:solidFill>
                <a:latin typeface="Segoe UI"/>
              </a:defRPr>
            </a:pPr>
            <a:r>
              <a:t>NIRF &amp; STATUTORY COMPLIANCE</a:t>
            </a:r>
          </a:p>
          <a:p>
            <a:pPr>
              <a:spcBef>
                <a:spcPts val="300"/>
              </a:spcBef>
              <a:defRPr sz="1400" b="1">
                <a:solidFill>
                  <a:srgbClr val="133A26"/>
                </a:solidFill>
                <a:latin typeface="Segoe UI"/>
              </a:defRPr>
            </a:pPr>
            <a:r>
              <a:t>One-Click Institutional Data Export</a:t>
            </a:r>
          </a:p>
          <a:p>
            <a:pPr>
              <a:spcBef>
                <a:spcPts val="500"/>
              </a:spcBef>
              <a:defRPr sz="1100">
                <a:solidFill>
                  <a:srgbClr val="475569"/>
                </a:solidFill>
                <a:latin typeface="Segoe UI"/>
              </a:defRPr>
            </a:pPr>
            <a:r>
              <a:t>Replaces months of frantic paper compilation across 30+ departments. Leadership can generate verified accreditation reports in seconds with complete timestamp audit trails.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C59B27"/>
                </a:solidFill>
                <a:latin typeface="Segoe UI"/>
              </a:defRPr>
            </a:pPr>
            <a:r>
              <a:t>SCHOLARSYNC FEATURE</a:t>
            </a:r>
          </a:p>
          <a:p>
            <a:pPr>
              <a:spcBef>
                <a:spcPts val="300"/>
              </a:spcBef>
              <a:defRPr sz="2200" b="1">
                <a:solidFill>
                  <a:srgbClr val="133A26"/>
                </a:solidFill>
                <a:latin typeface="Segoe UI"/>
              </a:defRPr>
            </a:pPr>
            <a:r>
              <a:t>Stage 1: Verified Onboarding &amp; DRC Supervisor Allocation</a:t>
            </a:r>
          </a:p>
        </p:txBody>
      </p:sp>
      <p:pic>
        <p:nvPicPr>
          <p:cNvPr id="3" name="Picture 2" descr="hpu_logo.png"/>
          <p:cNvPicPr>
            <a:picLocks noChangeAspect="1"/>
          </p:cNvPicPr>
          <p:nvPr/>
        </p:nvPicPr>
        <p:blipFill>
          <a:blip r:embed="rId2"/>
          <a:stretch>
            <a:fillRect/>
          </a:stretch>
        </p:blipFill>
        <p:spPr>
          <a:xfrm>
            <a:off x="11064240" y="320040"/>
            <a:ext cx="777240" cy="777240"/>
          </a:xfrm>
          <a:prstGeom prst="rect">
            <a:avLst/>
          </a:prstGeom>
        </p:spPr>
      </p:pic>
      <p:sp>
        <p:nvSpPr>
          <p:cNvPr id="4" name="TextBox 3"/>
          <p:cNvSpPr txBox="1"/>
          <p:nvPr/>
        </p:nvSpPr>
        <p:spPr>
          <a:xfrm>
            <a:off x="731520" y="6355080"/>
            <a:ext cx="10728655" cy="365760"/>
          </a:xfrm>
          <a:prstGeom prst="rect">
            <a:avLst/>
          </a:prstGeom>
          <a:noFill/>
        </p:spPr>
        <p:txBody>
          <a:bodyPr wrap="square" lIns="0" tIns="0" rIns="0" bIns="0">
            <a:spAutoFit/>
          </a:bodyPr>
          <a:lstStyle/>
          <a:p>
            <a:pPr>
              <a:defRPr sz="900">
                <a:solidFill>
                  <a:srgbClr val="475569"/>
                </a:solidFill>
                <a:latin typeface="Segoe UI"/>
              </a:defRPr>
            </a:pPr>
            <a:r>
              <a:t>Himachal Pradesh University, Shimla  |  ScholarHub Digital Research &amp; Governance Ecosystem  |  Slide 7 of 25</a:t>
            </a:r>
          </a:p>
        </p:txBody>
      </p:sp>
      <p:sp>
        <p:nvSpPr>
          <p:cNvPr id="5" name="TextBox 4"/>
          <p:cNvSpPr txBox="1"/>
          <p:nvPr/>
        </p:nvSpPr>
        <p:spPr>
          <a:xfrm>
            <a:off x="731520" y="1463040"/>
            <a:ext cx="5120640" cy="4572000"/>
          </a:xfrm>
          <a:prstGeom prst="rect">
            <a:avLst/>
          </a:prstGeom>
          <a:noFill/>
        </p:spPr>
        <p:txBody>
          <a:bodyPr wrap="square" lIns="0" rIns="0" tIns="0" bIns="0">
            <a:spAutoFit/>
          </a:bodyPr>
          <a:lstStyle/>
          <a:p>
            <a:pPr>
              <a:defRPr sz="1100" b="1">
                <a:solidFill>
                  <a:srgbClr val="0F766E"/>
                </a:solidFill>
                <a:latin typeface="Segoe UI"/>
              </a:defRPr>
            </a:pPr>
            <a:r>
              <a:t>FOUNDATIONAL ADMISSION &amp; ALLOCATION</a:t>
            </a:r>
          </a:p>
          <a:p>
            <a:pPr>
              <a:spcBef>
                <a:spcPts val="400"/>
              </a:spcBef>
              <a:defRPr sz="1800" b="1">
                <a:solidFill>
                  <a:srgbClr val="133A26"/>
                </a:solidFill>
                <a:latin typeface="Segoe UI"/>
              </a:defRPr>
            </a:pPr>
            <a:r>
              <a:t>Automated 9-Digit SH-No. &amp; Guide Allotment</a:t>
            </a:r>
          </a:p>
          <a:p>
            <a:pPr>
              <a:spcBef>
                <a:spcPts val="800"/>
              </a:spcBef>
              <a:defRPr sz="1100">
                <a:solidFill>
                  <a:srgbClr val="0F172A"/>
                </a:solidFill>
                <a:latin typeface="Segoe UI"/>
              </a:defRPr>
            </a:pPr>
            <a:r>
              <a:t>• Unique ScholarHub ID: Dynamically generates a tamper-proof 9-digit 'SH No.' linked across both portals.</a:t>
            </a:r>
          </a:p>
          <a:p>
            <a:pPr>
              <a:spcBef>
                <a:spcPts val="800"/>
              </a:spcBef>
              <a:defRPr sz="1100">
                <a:solidFill>
                  <a:srgbClr val="0F172A"/>
                </a:solidFill>
                <a:latin typeface="Segoe UI"/>
              </a:defRPr>
            </a:pPr>
            <a:r>
              <a:t>• Coursework Verification: Scholars upload coursework marks cards; verified sequentially by Supervisor and HOD.</a:t>
            </a:r>
          </a:p>
          <a:p>
            <a:pPr>
              <a:spcBef>
                <a:spcPts val="800"/>
              </a:spcBef>
              <a:defRPr sz="1100">
                <a:solidFill>
                  <a:srgbClr val="0F172A"/>
                </a:solidFill>
                <a:latin typeface="Segoe UI"/>
              </a:defRPr>
            </a:pPr>
            <a:r>
              <a:t>• DRC Supervisor Allocation: Departmental Research Committee allocates approved supervisors respecting UGC guide quotas (Prof: 8, Assoc: 6, Asst: 4).</a:t>
            </a:r>
          </a:p>
          <a:p>
            <a:pPr>
              <a:spcBef>
                <a:spcPts val="800"/>
              </a:spcBef>
              <a:defRPr sz="1100">
                <a:solidFill>
                  <a:srgbClr val="0F172A"/>
                </a:solidFill>
                <a:latin typeface="Segoe UI"/>
              </a:defRPr>
            </a:pPr>
            <a:r>
              <a:t>• Single-Action Clearance: Eliminates weeks of manual file movement between admission office and departmental boards.</a:t>
            </a:r>
          </a:p>
        </p:txBody>
      </p:sp>
      <p:sp>
        <p:nvSpPr>
          <p:cNvPr id="6" name="Rounded Rectangle 5"/>
          <p:cNvSpPr/>
          <p:nvPr/>
        </p:nvSpPr>
        <p:spPr>
          <a:xfrm>
            <a:off x="612648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8_sync_student_overview.png"/>
          <p:cNvPicPr>
            <a:picLocks noChangeAspect="1"/>
          </p:cNvPicPr>
          <p:nvPr/>
        </p:nvPicPr>
        <p:blipFill>
          <a:blip r:embed="rId3"/>
          <a:stretch>
            <a:fillRect/>
          </a:stretch>
        </p:blipFill>
        <p:spPr>
          <a:xfrm>
            <a:off x="6199632" y="1444752"/>
            <a:ext cx="5157216" cy="4315968"/>
          </a:xfrm>
          <a:prstGeom prst="rect">
            <a:avLst/>
          </a:prstGeom>
        </p:spPr>
      </p:pic>
      <p:sp>
        <p:nvSpPr>
          <p:cNvPr id="8" name="TextBox 7"/>
          <p:cNvSpPr txBox="1"/>
          <p:nvPr/>
        </p:nvSpPr>
        <p:spPr>
          <a:xfrm>
            <a:off x="6199632" y="5815584"/>
            <a:ext cx="5157216" cy="292608"/>
          </a:xfrm>
          <a:prstGeom prst="rect">
            <a:avLst/>
          </a:prstGeom>
          <a:noFill/>
        </p:spPr>
        <p:txBody>
          <a:bodyPr wrap="none" tIns="0" bIns="0" lIns="0" rIns="0">
            <a:spAutoFit/>
          </a:bodyPr>
          <a:lstStyle/>
          <a:p>
            <a:pPr algn="ctr">
              <a:defRPr sz="850" b="1">
                <a:solidFill>
                  <a:srgbClr val="0F766E"/>
                </a:solidFill>
                <a:latin typeface="Segoe UI"/>
              </a:defRPr>
            </a:pPr>
            <a:r>
              <a:t>LIVE INTERFACE: Doctoral Candidate Overview &amp; Registered Ph.D. Profile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C59B27"/>
                </a:solidFill>
                <a:latin typeface="Segoe UI"/>
              </a:defRPr>
            </a:pPr>
            <a:r>
              <a:t>SCHOLARSYNC FEATURE</a:t>
            </a:r>
          </a:p>
          <a:p>
            <a:pPr>
              <a:spcBef>
                <a:spcPts val="300"/>
              </a:spcBef>
              <a:defRPr sz="2200" b="1">
                <a:solidFill>
                  <a:srgbClr val="133A26"/>
                </a:solidFill>
                <a:latin typeface="Segoe UI"/>
              </a:defRPr>
            </a:pPr>
            <a:r>
              <a:t>Stage 2: Research Synopsis Clearance &amp; Formal DRC Review</a:t>
            </a:r>
          </a:p>
        </p:txBody>
      </p:sp>
      <p:pic>
        <p:nvPicPr>
          <p:cNvPr id="3" name="Picture 2" descr="hpu_logo.png"/>
          <p:cNvPicPr>
            <a:picLocks noChangeAspect="1"/>
          </p:cNvPicPr>
          <p:nvPr/>
        </p:nvPicPr>
        <p:blipFill>
          <a:blip r:embed="rId2"/>
          <a:stretch>
            <a:fillRect/>
          </a:stretch>
        </p:blipFill>
        <p:spPr>
          <a:xfrm>
            <a:off x="11064240" y="320040"/>
            <a:ext cx="777240" cy="777240"/>
          </a:xfrm>
          <a:prstGeom prst="rect">
            <a:avLst/>
          </a:prstGeom>
        </p:spPr>
      </p:pic>
      <p:sp>
        <p:nvSpPr>
          <p:cNvPr id="4" name="TextBox 3"/>
          <p:cNvSpPr txBox="1"/>
          <p:nvPr/>
        </p:nvSpPr>
        <p:spPr>
          <a:xfrm>
            <a:off x="731520" y="6355080"/>
            <a:ext cx="10728655" cy="365760"/>
          </a:xfrm>
          <a:prstGeom prst="rect">
            <a:avLst/>
          </a:prstGeom>
          <a:noFill/>
        </p:spPr>
        <p:txBody>
          <a:bodyPr wrap="square" lIns="0" tIns="0" rIns="0" bIns="0">
            <a:spAutoFit/>
          </a:bodyPr>
          <a:lstStyle/>
          <a:p>
            <a:pPr>
              <a:defRPr sz="900">
                <a:solidFill>
                  <a:srgbClr val="475569"/>
                </a:solidFill>
                <a:latin typeface="Segoe UI"/>
              </a:defRPr>
            </a:pPr>
            <a:r>
              <a:t>Himachal Pradesh University, Shimla  |  ScholarHub Digital Research &amp; Governance Ecosystem  |  Slide 8 of 25</a:t>
            </a:r>
          </a:p>
        </p:txBody>
      </p:sp>
      <p:sp>
        <p:nvSpPr>
          <p:cNvPr id="5" name="TextBox 4"/>
          <p:cNvSpPr txBox="1"/>
          <p:nvPr/>
        </p:nvSpPr>
        <p:spPr>
          <a:xfrm>
            <a:off x="731520" y="1463040"/>
            <a:ext cx="5120640" cy="4572000"/>
          </a:xfrm>
          <a:prstGeom prst="rect">
            <a:avLst/>
          </a:prstGeom>
          <a:noFill/>
        </p:spPr>
        <p:txBody>
          <a:bodyPr wrap="square" lIns="0" rIns="0" tIns="0" bIns="0">
            <a:spAutoFit/>
          </a:bodyPr>
          <a:lstStyle/>
          <a:p>
            <a:pPr>
              <a:defRPr sz="1100" b="1">
                <a:solidFill>
                  <a:srgbClr val="0F766E"/>
                </a:solidFill>
                <a:latin typeface="Segoe UI"/>
              </a:defRPr>
            </a:pPr>
            <a:r>
              <a:t>RESEARCH TOPIC VALIDATION</a:t>
            </a:r>
          </a:p>
          <a:p>
            <a:pPr>
              <a:spcBef>
                <a:spcPts val="400"/>
              </a:spcBef>
              <a:defRPr sz="1800" b="1">
                <a:solidFill>
                  <a:srgbClr val="133A26"/>
                </a:solidFill>
                <a:latin typeface="Segoe UI"/>
              </a:defRPr>
            </a:pPr>
            <a:r>
              <a:t>Transparent Synopsis Defense Scheduling</a:t>
            </a:r>
          </a:p>
          <a:p>
            <a:pPr>
              <a:spcBef>
                <a:spcPts val="800"/>
              </a:spcBef>
              <a:defRPr sz="1100">
                <a:solidFill>
                  <a:srgbClr val="0F172A"/>
                </a:solidFill>
                <a:latin typeface="Segoe UI"/>
              </a:defRPr>
            </a:pPr>
            <a:r>
              <a:t>• Digital Synopsis Submission: Candidate uploads complete synopsis document and research methodology.</a:t>
            </a:r>
          </a:p>
          <a:p>
            <a:pPr>
              <a:spcBef>
                <a:spcPts val="800"/>
              </a:spcBef>
              <a:defRPr sz="1100">
                <a:solidFill>
                  <a:srgbClr val="0F172A"/>
                </a:solidFill>
                <a:latin typeface="Segoe UI"/>
              </a:defRPr>
            </a:pPr>
            <a:r>
              <a:t>• Supervisor Endorsement: Research guide signs off digitally before forwarding to the HOD.</a:t>
            </a:r>
          </a:p>
          <a:p>
            <a:pPr>
              <a:spcBef>
                <a:spcPts val="800"/>
              </a:spcBef>
              <a:defRPr sz="1100">
                <a:solidFill>
                  <a:srgbClr val="0F172A"/>
                </a:solidFill>
                <a:latin typeface="Segoe UI"/>
              </a:defRPr>
            </a:pPr>
            <a:r>
              <a:t>• Formal DRC Meeting Scheduling: HOD records DRC date, time, venue, and panel members with automated calendar email invites to candidate and guide.</a:t>
            </a:r>
          </a:p>
          <a:p>
            <a:pPr>
              <a:spcBef>
                <a:spcPts val="800"/>
              </a:spcBef>
              <a:defRPr sz="1100">
                <a:solidFill>
                  <a:srgbClr val="0F172A"/>
                </a:solidFill>
                <a:latin typeface="Segoe UI"/>
              </a:defRPr>
            </a:pPr>
            <a:r>
              <a:t>• DRC Outcome Ledger: Records formal committee verdict (Approved, Provisional Clearance, Revisions Required) with permanent feedback notes.</a:t>
            </a:r>
          </a:p>
        </p:txBody>
      </p:sp>
      <p:sp>
        <p:nvSpPr>
          <p:cNvPr id="6" name="Rounded Rectangle 5"/>
          <p:cNvSpPr/>
          <p:nvPr/>
        </p:nvSpPr>
        <p:spPr>
          <a:xfrm>
            <a:off x="612648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5_sync_phd_lifecycle_workflow.png"/>
          <p:cNvPicPr>
            <a:picLocks noChangeAspect="1"/>
          </p:cNvPicPr>
          <p:nvPr/>
        </p:nvPicPr>
        <p:blipFill>
          <a:blip r:embed="rId3"/>
          <a:stretch>
            <a:fillRect/>
          </a:stretch>
        </p:blipFill>
        <p:spPr>
          <a:xfrm>
            <a:off x="6199632" y="1444752"/>
            <a:ext cx="5157216" cy="4315968"/>
          </a:xfrm>
          <a:prstGeom prst="rect">
            <a:avLst/>
          </a:prstGeom>
        </p:spPr>
      </p:pic>
      <p:sp>
        <p:nvSpPr>
          <p:cNvPr id="8" name="TextBox 7"/>
          <p:cNvSpPr txBox="1"/>
          <p:nvPr/>
        </p:nvSpPr>
        <p:spPr>
          <a:xfrm>
            <a:off x="6199632" y="5815584"/>
            <a:ext cx="5157216" cy="292608"/>
          </a:xfrm>
          <a:prstGeom prst="rect">
            <a:avLst/>
          </a:prstGeom>
          <a:noFill/>
        </p:spPr>
        <p:txBody>
          <a:bodyPr wrap="none" tIns="0" bIns="0" lIns="0" rIns="0">
            <a:spAutoFit/>
          </a:bodyPr>
          <a:lstStyle/>
          <a:p>
            <a:pPr algn="ctr">
              <a:defRPr sz="850" b="1">
                <a:solidFill>
                  <a:srgbClr val="0F766E"/>
                </a:solidFill>
                <a:latin typeface="Segoe UI"/>
              </a:defRPr>
            </a:pPr>
            <a:r>
              <a:t>LIVE INTERFACE: DRC Scheduling &amp; Milestone Transition Architecture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C59B27"/>
                </a:solidFill>
                <a:latin typeface="Segoe UI"/>
              </a:defRPr>
            </a:pPr>
            <a:r>
              <a:t>SCHOLARSYNC FEATURE</a:t>
            </a:r>
          </a:p>
          <a:p>
            <a:pPr>
              <a:spcBef>
                <a:spcPts val="300"/>
              </a:spcBef>
              <a:defRPr sz="2200" b="1">
                <a:solidFill>
                  <a:srgbClr val="133A26"/>
                </a:solidFill>
                <a:latin typeface="Segoe UI"/>
              </a:defRPr>
            </a:pPr>
            <a:r>
              <a:t>Stage 3: Mandatory 6-Month RAC Progress Monitoring</a:t>
            </a:r>
          </a:p>
        </p:txBody>
      </p:sp>
      <p:pic>
        <p:nvPicPr>
          <p:cNvPr id="3" name="Picture 2" descr="hpu_logo.png"/>
          <p:cNvPicPr>
            <a:picLocks noChangeAspect="1"/>
          </p:cNvPicPr>
          <p:nvPr/>
        </p:nvPicPr>
        <p:blipFill>
          <a:blip r:embed="rId2"/>
          <a:stretch>
            <a:fillRect/>
          </a:stretch>
        </p:blipFill>
        <p:spPr>
          <a:xfrm>
            <a:off x="11064240" y="320040"/>
            <a:ext cx="777240" cy="777240"/>
          </a:xfrm>
          <a:prstGeom prst="rect">
            <a:avLst/>
          </a:prstGeom>
        </p:spPr>
      </p:pic>
      <p:sp>
        <p:nvSpPr>
          <p:cNvPr id="4" name="TextBox 3"/>
          <p:cNvSpPr txBox="1"/>
          <p:nvPr/>
        </p:nvSpPr>
        <p:spPr>
          <a:xfrm>
            <a:off x="731520" y="6355080"/>
            <a:ext cx="10728655" cy="365760"/>
          </a:xfrm>
          <a:prstGeom prst="rect">
            <a:avLst/>
          </a:prstGeom>
          <a:noFill/>
        </p:spPr>
        <p:txBody>
          <a:bodyPr wrap="square" lIns="0" tIns="0" rIns="0" bIns="0">
            <a:spAutoFit/>
          </a:bodyPr>
          <a:lstStyle/>
          <a:p>
            <a:pPr>
              <a:defRPr sz="900">
                <a:solidFill>
                  <a:srgbClr val="475569"/>
                </a:solidFill>
                <a:latin typeface="Segoe UI"/>
              </a:defRPr>
            </a:pPr>
            <a:r>
              <a:t>Himachal Pradesh University, Shimla  |  ScholarHub Digital Research &amp; Governance Ecosystem  |  Slide 9 of 25</a:t>
            </a:r>
          </a:p>
        </p:txBody>
      </p:sp>
      <p:sp>
        <p:nvSpPr>
          <p:cNvPr id="5" name="TextBox 4"/>
          <p:cNvSpPr txBox="1"/>
          <p:nvPr/>
        </p:nvSpPr>
        <p:spPr>
          <a:xfrm>
            <a:off x="731520" y="1463040"/>
            <a:ext cx="5120640" cy="4572000"/>
          </a:xfrm>
          <a:prstGeom prst="rect">
            <a:avLst/>
          </a:prstGeom>
          <a:noFill/>
        </p:spPr>
        <p:txBody>
          <a:bodyPr wrap="square" lIns="0" rIns="0" tIns="0" bIns="0">
            <a:spAutoFit/>
          </a:bodyPr>
          <a:lstStyle/>
          <a:p>
            <a:pPr>
              <a:defRPr sz="1100" b="1">
                <a:solidFill>
                  <a:srgbClr val="0F766E"/>
                </a:solidFill>
                <a:latin typeface="Segoe UI"/>
              </a:defRPr>
            </a:pPr>
            <a:r>
              <a:t>CONTINUOUS ACADEMIC MONITORING</a:t>
            </a:r>
          </a:p>
          <a:p>
            <a:pPr>
              <a:spcBef>
                <a:spcPts val="400"/>
              </a:spcBef>
              <a:defRPr sz="1800" b="1">
                <a:solidFill>
                  <a:srgbClr val="133A26"/>
                </a:solidFill>
                <a:latin typeface="Segoe UI"/>
              </a:defRPr>
            </a:pPr>
            <a:r>
              <a:t>Eliminating Dormant &amp; Inactive Candidacies</a:t>
            </a:r>
          </a:p>
          <a:p>
            <a:pPr>
              <a:spcBef>
                <a:spcPts val="800"/>
              </a:spcBef>
              <a:defRPr sz="1100">
                <a:solidFill>
                  <a:srgbClr val="0F172A"/>
                </a:solidFill>
                <a:latin typeface="Segoe UI"/>
              </a:defRPr>
            </a:pPr>
            <a:r>
              <a:t>• Semestral Progress Uploads: Scholars must upload 6-monthly progress reports documenting literature review, experiments, and chapters.</a:t>
            </a:r>
          </a:p>
          <a:p>
            <a:pPr>
              <a:spcBef>
                <a:spcPts val="800"/>
              </a:spcBef>
              <a:defRPr sz="1100">
                <a:solidFill>
                  <a:srgbClr val="0F172A"/>
                </a:solidFill>
                <a:latin typeface="Segoe UI"/>
              </a:defRPr>
            </a:pPr>
            <a:r>
              <a:t>• Research Advisory Committee (RAC) Sign-Off: RAC members record meeting minutes, evaluation remarks, and milestone clearances online.</a:t>
            </a:r>
          </a:p>
          <a:p>
            <a:pPr>
              <a:spcBef>
                <a:spcPts val="800"/>
              </a:spcBef>
              <a:defRPr sz="1100">
                <a:solidFill>
                  <a:srgbClr val="0F172A"/>
                </a:solidFill>
                <a:latin typeface="Segoe UI"/>
              </a:defRPr>
            </a:pPr>
            <a:r>
              <a:t>• Early Intervention Warning: Flags stalled research early, allowing university leadership and guides to intervene productively.</a:t>
            </a:r>
          </a:p>
          <a:p>
            <a:pPr>
              <a:spcBef>
                <a:spcPts val="800"/>
              </a:spcBef>
              <a:defRPr sz="1100">
                <a:solidFill>
                  <a:srgbClr val="0F172A"/>
                </a:solidFill>
                <a:latin typeface="Segoe UI"/>
              </a:defRPr>
            </a:pPr>
            <a:r>
              <a:t>• Audit-Proof Records: Guarantees full UGC compliance proving continuous active research before thesis submission.</a:t>
            </a:r>
          </a:p>
        </p:txBody>
      </p:sp>
      <p:sp>
        <p:nvSpPr>
          <p:cNvPr id="6" name="Rounded Rectangle 5"/>
          <p:cNvSpPr/>
          <p:nvPr/>
        </p:nvSpPr>
        <p:spPr>
          <a:xfrm>
            <a:off x="612648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8_sync_student_overview.png"/>
          <p:cNvPicPr>
            <a:picLocks noChangeAspect="1"/>
          </p:cNvPicPr>
          <p:nvPr/>
        </p:nvPicPr>
        <p:blipFill>
          <a:blip r:embed="rId3"/>
          <a:stretch>
            <a:fillRect/>
          </a:stretch>
        </p:blipFill>
        <p:spPr>
          <a:xfrm>
            <a:off x="6199632" y="1444752"/>
            <a:ext cx="5157216" cy="4315968"/>
          </a:xfrm>
          <a:prstGeom prst="rect">
            <a:avLst/>
          </a:prstGeom>
        </p:spPr>
      </p:pic>
      <p:sp>
        <p:nvSpPr>
          <p:cNvPr id="8" name="TextBox 7"/>
          <p:cNvSpPr txBox="1"/>
          <p:nvPr/>
        </p:nvSpPr>
        <p:spPr>
          <a:xfrm>
            <a:off x="6199632" y="5815584"/>
            <a:ext cx="5157216" cy="292608"/>
          </a:xfrm>
          <a:prstGeom prst="rect">
            <a:avLst/>
          </a:prstGeom>
          <a:noFill/>
        </p:spPr>
        <p:txBody>
          <a:bodyPr wrap="none" tIns="0" bIns="0" lIns="0" rIns="0">
            <a:spAutoFit/>
          </a:bodyPr>
          <a:lstStyle/>
          <a:p>
            <a:pPr algn="ctr">
              <a:defRPr sz="850" b="1">
                <a:solidFill>
                  <a:srgbClr val="0F766E"/>
                </a:solidFill>
                <a:latin typeface="Segoe UI"/>
              </a:defRPr>
            </a:pPr>
            <a:r>
              <a:t>LIVE INTERFACE: Scholar Milestone Dashboard &amp; 6-Month RAC Tracking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C59B27"/>
                </a:solidFill>
                <a:latin typeface="Segoe UI"/>
              </a:defRPr>
            </a:pPr>
            <a:r>
              <a:t>SCHOLARSYNC FEATURE</a:t>
            </a:r>
          </a:p>
          <a:p>
            <a:pPr>
              <a:spcBef>
                <a:spcPts val="300"/>
              </a:spcBef>
              <a:defRPr sz="2200" b="1">
                <a:solidFill>
                  <a:srgbClr val="133A26"/>
                </a:solidFill>
                <a:latin typeface="Segoe UI"/>
              </a:defRPr>
            </a:pPr>
            <a:r>
              <a:t>Stage 4: Research Publications, Patents &amp; Extramural Grants</a:t>
            </a:r>
          </a:p>
        </p:txBody>
      </p:sp>
      <p:pic>
        <p:nvPicPr>
          <p:cNvPr id="3" name="Picture 2" descr="hpu_logo.png"/>
          <p:cNvPicPr>
            <a:picLocks noChangeAspect="1"/>
          </p:cNvPicPr>
          <p:nvPr/>
        </p:nvPicPr>
        <p:blipFill>
          <a:blip r:embed="rId2"/>
          <a:stretch>
            <a:fillRect/>
          </a:stretch>
        </p:blipFill>
        <p:spPr>
          <a:xfrm>
            <a:off x="11064240" y="320040"/>
            <a:ext cx="777240" cy="777240"/>
          </a:xfrm>
          <a:prstGeom prst="rect">
            <a:avLst/>
          </a:prstGeom>
        </p:spPr>
      </p:pic>
      <p:sp>
        <p:nvSpPr>
          <p:cNvPr id="4" name="TextBox 3"/>
          <p:cNvSpPr txBox="1"/>
          <p:nvPr/>
        </p:nvSpPr>
        <p:spPr>
          <a:xfrm>
            <a:off x="731520" y="6355080"/>
            <a:ext cx="10728655" cy="365760"/>
          </a:xfrm>
          <a:prstGeom prst="rect">
            <a:avLst/>
          </a:prstGeom>
          <a:noFill/>
        </p:spPr>
        <p:txBody>
          <a:bodyPr wrap="square" lIns="0" tIns="0" rIns="0" bIns="0">
            <a:spAutoFit/>
          </a:bodyPr>
          <a:lstStyle/>
          <a:p>
            <a:pPr>
              <a:defRPr sz="900">
                <a:solidFill>
                  <a:srgbClr val="475569"/>
                </a:solidFill>
                <a:latin typeface="Segoe UI"/>
              </a:defRPr>
            </a:pPr>
            <a:r>
              <a:t>Himachal Pradesh University, Shimla  |  ScholarHub Digital Research &amp; Governance Ecosystem  |  Slide 10 of 25</a:t>
            </a:r>
          </a:p>
        </p:txBody>
      </p:sp>
      <p:sp>
        <p:nvSpPr>
          <p:cNvPr id="5" name="TextBox 4"/>
          <p:cNvSpPr txBox="1"/>
          <p:nvPr/>
        </p:nvSpPr>
        <p:spPr>
          <a:xfrm>
            <a:off x="731520" y="1463040"/>
            <a:ext cx="5120640" cy="4572000"/>
          </a:xfrm>
          <a:prstGeom prst="rect">
            <a:avLst/>
          </a:prstGeom>
          <a:noFill/>
        </p:spPr>
        <p:txBody>
          <a:bodyPr wrap="square" lIns="0" rIns="0" tIns="0" bIns="0">
            <a:spAutoFit/>
          </a:bodyPr>
          <a:lstStyle/>
          <a:p>
            <a:pPr>
              <a:defRPr sz="1100" b="1">
                <a:solidFill>
                  <a:srgbClr val="0F766E"/>
                </a:solidFill>
                <a:latin typeface="Segoe UI"/>
              </a:defRPr>
            </a:pPr>
            <a:r>
              <a:t>RESEARCH OUTPUT &amp; INTELLECTUAL ASSETS</a:t>
            </a:r>
          </a:p>
          <a:p>
            <a:pPr>
              <a:spcBef>
                <a:spcPts val="400"/>
              </a:spcBef>
              <a:defRPr sz="1800" b="1">
                <a:solidFill>
                  <a:srgbClr val="133A26"/>
                </a:solidFill>
                <a:latin typeface="Segoe UI"/>
              </a:defRPr>
            </a:pPr>
            <a:r>
              <a:t>Validated Intellectual Property Bank</a:t>
            </a:r>
          </a:p>
          <a:p>
            <a:pPr>
              <a:spcBef>
                <a:spcPts val="800"/>
              </a:spcBef>
              <a:defRPr sz="1100">
                <a:solidFill>
                  <a:srgbClr val="0F172A"/>
                </a:solidFill>
                <a:latin typeface="Segoe UI"/>
              </a:defRPr>
            </a:pPr>
            <a:r>
              <a:t>• Publication Gatekeeping: Automatically verifies that the scholar has satisfied UGC criteria (mandatory Scopus / UGC CARE publications) prior to thesis drafting.</a:t>
            </a:r>
          </a:p>
          <a:p>
            <a:pPr>
              <a:spcBef>
                <a:spcPts val="800"/>
              </a:spcBef>
              <a:defRPr sz="1100">
                <a:solidFill>
                  <a:srgbClr val="0F172A"/>
                </a:solidFill>
                <a:latin typeface="Segoe UI"/>
              </a:defRPr>
            </a:pPr>
            <a:r>
              <a:t>• DOI &amp; OpenAlex Integration: Automated retrieval of publication metadata, citations, and journal impact factor.</a:t>
            </a:r>
          </a:p>
          <a:p>
            <a:pPr>
              <a:spcBef>
                <a:spcPts val="800"/>
              </a:spcBef>
              <a:defRPr sz="1100">
                <a:solidFill>
                  <a:srgbClr val="0F172A"/>
                </a:solidFill>
                <a:latin typeface="Segoe UI"/>
              </a:defRPr>
            </a:pPr>
            <a:r>
              <a:t>• Extramural Grants Management: Tracks research funding awards, sanctioned budgets, project PIs, and funding agencies.</a:t>
            </a:r>
          </a:p>
          <a:p>
            <a:pPr>
              <a:spcBef>
                <a:spcPts val="800"/>
              </a:spcBef>
              <a:defRPr sz="1100">
                <a:solidFill>
                  <a:srgbClr val="0F172A"/>
                </a:solidFill>
                <a:latin typeface="Segoe UI"/>
              </a:defRPr>
            </a:pPr>
            <a:r>
              <a:t>• Patent Ledger: Centralized repository of intellectual property filed or granted under HPU.</a:t>
            </a:r>
          </a:p>
        </p:txBody>
      </p:sp>
      <p:sp>
        <p:nvSpPr>
          <p:cNvPr id="6" name="Rounded Rectangle 5"/>
          <p:cNvSpPr/>
          <p:nvPr/>
        </p:nvSpPr>
        <p:spPr>
          <a:xfrm>
            <a:off x="612648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6_sync_funding_grants.png"/>
          <p:cNvPicPr>
            <a:picLocks noChangeAspect="1"/>
          </p:cNvPicPr>
          <p:nvPr/>
        </p:nvPicPr>
        <p:blipFill>
          <a:blip r:embed="rId3"/>
          <a:stretch>
            <a:fillRect/>
          </a:stretch>
        </p:blipFill>
        <p:spPr>
          <a:xfrm>
            <a:off x="6199632" y="1444752"/>
            <a:ext cx="5157216" cy="4315968"/>
          </a:xfrm>
          <a:prstGeom prst="rect">
            <a:avLst/>
          </a:prstGeom>
        </p:spPr>
      </p:pic>
      <p:sp>
        <p:nvSpPr>
          <p:cNvPr id="8" name="TextBox 7"/>
          <p:cNvSpPr txBox="1"/>
          <p:nvPr/>
        </p:nvSpPr>
        <p:spPr>
          <a:xfrm>
            <a:off x="6199632" y="5815584"/>
            <a:ext cx="5157216" cy="292608"/>
          </a:xfrm>
          <a:prstGeom prst="rect">
            <a:avLst/>
          </a:prstGeom>
          <a:noFill/>
        </p:spPr>
        <p:txBody>
          <a:bodyPr wrap="none" tIns="0" bIns="0" lIns="0" rIns="0">
            <a:spAutoFit/>
          </a:bodyPr>
          <a:lstStyle/>
          <a:p>
            <a:pPr algn="ctr">
              <a:defRPr sz="850" b="1">
                <a:solidFill>
                  <a:srgbClr val="0F766E"/>
                </a:solidFill>
                <a:latin typeface="Segoe UI"/>
              </a:defRPr>
            </a:pPr>
            <a:r>
              <a:t>LIVE INTERFACE: University Research Grants &amp; Extramural Funding Ledger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C59B27"/>
                </a:solidFill>
                <a:latin typeface="Segoe UI"/>
              </a:defRPr>
            </a:pPr>
            <a:r>
              <a:t>SCHOLARSYNC FEATURE</a:t>
            </a:r>
          </a:p>
          <a:p>
            <a:pPr>
              <a:spcBef>
                <a:spcPts val="300"/>
              </a:spcBef>
              <a:defRPr sz="2200" b="1">
                <a:solidFill>
                  <a:srgbClr val="133A26"/>
                </a:solidFill>
                <a:latin typeface="Segoe UI"/>
              </a:defRPr>
            </a:pPr>
            <a:r>
              <a:t>Stage 5: Pre-Submission Colloquium &amp; Plagiarism Verification</a:t>
            </a:r>
          </a:p>
        </p:txBody>
      </p:sp>
      <p:pic>
        <p:nvPicPr>
          <p:cNvPr id="3" name="Picture 2" descr="hpu_logo.png"/>
          <p:cNvPicPr>
            <a:picLocks noChangeAspect="1"/>
          </p:cNvPicPr>
          <p:nvPr/>
        </p:nvPicPr>
        <p:blipFill>
          <a:blip r:embed="rId2"/>
          <a:stretch>
            <a:fillRect/>
          </a:stretch>
        </p:blipFill>
        <p:spPr>
          <a:xfrm>
            <a:off x="11064240" y="320040"/>
            <a:ext cx="777240" cy="777240"/>
          </a:xfrm>
          <a:prstGeom prst="rect">
            <a:avLst/>
          </a:prstGeom>
        </p:spPr>
      </p:pic>
      <p:sp>
        <p:nvSpPr>
          <p:cNvPr id="4" name="TextBox 3"/>
          <p:cNvSpPr txBox="1"/>
          <p:nvPr/>
        </p:nvSpPr>
        <p:spPr>
          <a:xfrm>
            <a:off x="731520" y="6355080"/>
            <a:ext cx="10728655" cy="365760"/>
          </a:xfrm>
          <a:prstGeom prst="rect">
            <a:avLst/>
          </a:prstGeom>
          <a:noFill/>
        </p:spPr>
        <p:txBody>
          <a:bodyPr wrap="square" lIns="0" tIns="0" rIns="0" bIns="0">
            <a:spAutoFit/>
          </a:bodyPr>
          <a:lstStyle/>
          <a:p>
            <a:pPr>
              <a:defRPr sz="900">
                <a:solidFill>
                  <a:srgbClr val="475569"/>
                </a:solidFill>
                <a:latin typeface="Segoe UI"/>
              </a:defRPr>
            </a:pPr>
            <a:r>
              <a:t>Himachal Pradesh University, Shimla  |  ScholarHub Digital Research &amp; Governance Ecosystem  |  Slide 11 of 25</a:t>
            </a:r>
          </a:p>
        </p:txBody>
      </p:sp>
      <p:sp>
        <p:nvSpPr>
          <p:cNvPr id="5" name="TextBox 4"/>
          <p:cNvSpPr txBox="1"/>
          <p:nvPr/>
        </p:nvSpPr>
        <p:spPr>
          <a:xfrm>
            <a:off x="731520" y="1463040"/>
            <a:ext cx="5120640" cy="4572000"/>
          </a:xfrm>
          <a:prstGeom prst="rect">
            <a:avLst/>
          </a:prstGeom>
          <a:noFill/>
        </p:spPr>
        <p:txBody>
          <a:bodyPr wrap="square" lIns="0" rIns="0" tIns="0" bIns="0">
            <a:spAutoFit/>
          </a:bodyPr>
          <a:lstStyle/>
          <a:p>
            <a:pPr>
              <a:defRPr sz="1100" b="1">
                <a:solidFill>
                  <a:srgbClr val="0F766E"/>
                </a:solidFill>
                <a:latin typeface="Segoe UI"/>
              </a:defRPr>
            </a:pPr>
            <a:r>
              <a:t>ACADEMIC INTEGRITY ASSURANCE</a:t>
            </a:r>
          </a:p>
          <a:p>
            <a:pPr>
              <a:spcBef>
                <a:spcPts val="400"/>
              </a:spcBef>
              <a:defRPr sz="1800" b="1">
                <a:solidFill>
                  <a:srgbClr val="133A26"/>
                </a:solidFill>
                <a:latin typeface="Segoe UI"/>
              </a:defRPr>
            </a:pPr>
            <a:r>
              <a:t>Strict Pre-Submission Seminar Protocol</a:t>
            </a:r>
          </a:p>
          <a:p>
            <a:pPr>
              <a:spcBef>
                <a:spcPts val="800"/>
              </a:spcBef>
              <a:defRPr sz="1100">
                <a:solidFill>
                  <a:srgbClr val="0F172A"/>
                </a:solidFill>
                <a:latin typeface="Segoe UI"/>
              </a:defRPr>
            </a:pPr>
            <a:r>
              <a:t>• Rough Draft &amp; Plagiarism Upload: Candidate submits draft dissertation and official Turnitin/Urkund plagiarism clearance report (&lt;10% similarity).</a:t>
            </a:r>
          </a:p>
          <a:p>
            <a:pPr>
              <a:spcBef>
                <a:spcPts val="800"/>
              </a:spcBef>
              <a:defRPr sz="1100">
                <a:solidFill>
                  <a:srgbClr val="0F172A"/>
                </a:solidFill>
                <a:latin typeface="Segoe UI"/>
              </a:defRPr>
            </a:pPr>
            <a:r>
              <a:t>• Pre-Submission Seminar Scheduling: HOD schedules departmental presentation open to faculty and scholars.</a:t>
            </a:r>
          </a:p>
          <a:p>
            <a:pPr>
              <a:spcBef>
                <a:spcPts val="800"/>
              </a:spcBef>
              <a:defRPr sz="1100">
                <a:solidFill>
                  <a:srgbClr val="0F172A"/>
                </a:solidFill>
                <a:latin typeface="Segoe UI"/>
              </a:defRPr>
            </a:pPr>
            <a:r>
              <a:t>• Seminar Evaluation Clearance: Committee records 'Cleared' or 'Uncleared with Revisions'.</a:t>
            </a:r>
          </a:p>
          <a:p>
            <a:pPr>
              <a:spcBef>
                <a:spcPts val="800"/>
              </a:spcBef>
              <a:defRPr sz="1100">
                <a:solidFill>
                  <a:srgbClr val="0F172A"/>
                </a:solidFill>
                <a:latin typeface="Segoe UI"/>
              </a:defRPr>
            </a:pPr>
            <a:r>
              <a:t>• Binding Thesis Unlock: The portal locks out final bound thesis submission until seminar clearance is officially recorded.</a:t>
            </a:r>
          </a:p>
        </p:txBody>
      </p:sp>
      <p:sp>
        <p:nvSpPr>
          <p:cNvPr id="6" name="Rounded Rectangle 5"/>
          <p:cNvSpPr/>
          <p:nvPr/>
        </p:nvSpPr>
        <p:spPr>
          <a:xfrm>
            <a:off x="612648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7_sync_publications_repository.png"/>
          <p:cNvPicPr>
            <a:picLocks noChangeAspect="1"/>
          </p:cNvPicPr>
          <p:nvPr/>
        </p:nvPicPr>
        <p:blipFill>
          <a:blip r:embed="rId3"/>
          <a:stretch>
            <a:fillRect/>
          </a:stretch>
        </p:blipFill>
        <p:spPr>
          <a:xfrm>
            <a:off x="6199632" y="1444752"/>
            <a:ext cx="5157216" cy="4315968"/>
          </a:xfrm>
          <a:prstGeom prst="rect">
            <a:avLst/>
          </a:prstGeom>
        </p:spPr>
      </p:pic>
      <p:sp>
        <p:nvSpPr>
          <p:cNvPr id="8" name="TextBox 7"/>
          <p:cNvSpPr txBox="1"/>
          <p:nvPr/>
        </p:nvSpPr>
        <p:spPr>
          <a:xfrm>
            <a:off x="6199632" y="5815584"/>
            <a:ext cx="5157216" cy="292608"/>
          </a:xfrm>
          <a:prstGeom prst="rect">
            <a:avLst/>
          </a:prstGeom>
          <a:noFill/>
        </p:spPr>
        <p:txBody>
          <a:bodyPr wrap="none" tIns="0" bIns="0" lIns="0" rIns="0">
            <a:spAutoFit/>
          </a:bodyPr>
          <a:lstStyle/>
          <a:p>
            <a:pPr algn="ctr">
              <a:defRPr sz="850" b="1">
                <a:solidFill>
                  <a:srgbClr val="0F766E"/>
                </a:solidFill>
                <a:latin typeface="Segoe UI"/>
              </a:defRPr>
            </a:pPr>
            <a:r>
              <a:t>LIVE INTERFACE: Scholarly Publications &amp; Dissertation Repository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C59B27"/>
                </a:solidFill>
                <a:latin typeface="Segoe UI"/>
              </a:defRPr>
            </a:pPr>
            <a:r>
              <a:t>SCHOLARSYNC FEATURE</a:t>
            </a:r>
          </a:p>
          <a:p>
            <a:pPr>
              <a:spcBef>
                <a:spcPts val="300"/>
              </a:spcBef>
              <a:defRPr sz="2200" b="1">
                <a:solidFill>
                  <a:srgbClr val="133A26"/>
                </a:solidFill>
                <a:latin typeface="Segoe UI"/>
              </a:defRPr>
            </a:pPr>
            <a:r>
              <a:t>Stage 6: External Dispatch, Viva-Voce &amp; Degree Award</a:t>
            </a:r>
          </a:p>
        </p:txBody>
      </p:sp>
      <p:pic>
        <p:nvPicPr>
          <p:cNvPr id="3" name="Picture 2" descr="hpu_logo.png"/>
          <p:cNvPicPr>
            <a:picLocks noChangeAspect="1"/>
          </p:cNvPicPr>
          <p:nvPr/>
        </p:nvPicPr>
        <p:blipFill>
          <a:blip r:embed="rId2"/>
          <a:stretch>
            <a:fillRect/>
          </a:stretch>
        </p:blipFill>
        <p:spPr>
          <a:xfrm>
            <a:off x="11064240" y="320040"/>
            <a:ext cx="777240" cy="777240"/>
          </a:xfrm>
          <a:prstGeom prst="rect">
            <a:avLst/>
          </a:prstGeom>
        </p:spPr>
      </p:pic>
      <p:sp>
        <p:nvSpPr>
          <p:cNvPr id="4" name="TextBox 3"/>
          <p:cNvSpPr txBox="1"/>
          <p:nvPr/>
        </p:nvSpPr>
        <p:spPr>
          <a:xfrm>
            <a:off x="731520" y="6355080"/>
            <a:ext cx="10728655" cy="365760"/>
          </a:xfrm>
          <a:prstGeom prst="rect">
            <a:avLst/>
          </a:prstGeom>
          <a:noFill/>
        </p:spPr>
        <p:txBody>
          <a:bodyPr wrap="square" lIns="0" tIns="0" rIns="0" bIns="0">
            <a:spAutoFit/>
          </a:bodyPr>
          <a:lstStyle/>
          <a:p>
            <a:pPr>
              <a:defRPr sz="900">
                <a:solidFill>
                  <a:srgbClr val="475569"/>
                </a:solidFill>
                <a:latin typeface="Segoe UI"/>
              </a:defRPr>
            </a:pPr>
            <a:r>
              <a:t>Himachal Pradesh University, Shimla  |  ScholarHub Digital Research &amp; Governance Ecosystem  |  Slide 12 of 25</a:t>
            </a:r>
          </a:p>
        </p:txBody>
      </p:sp>
      <p:sp>
        <p:nvSpPr>
          <p:cNvPr id="5" name="TextBox 4"/>
          <p:cNvSpPr txBox="1"/>
          <p:nvPr/>
        </p:nvSpPr>
        <p:spPr>
          <a:xfrm>
            <a:off x="731520" y="1463040"/>
            <a:ext cx="5120640" cy="4572000"/>
          </a:xfrm>
          <a:prstGeom prst="rect">
            <a:avLst/>
          </a:prstGeom>
          <a:noFill/>
        </p:spPr>
        <p:txBody>
          <a:bodyPr wrap="square" lIns="0" rIns="0" tIns="0" bIns="0">
            <a:spAutoFit/>
          </a:bodyPr>
          <a:lstStyle/>
          <a:p>
            <a:pPr>
              <a:defRPr sz="1100" b="1">
                <a:solidFill>
                  <a:srgbClr val="0F766E"/>
                </a:solidFill>
                <a:latin typeface="Segoe UI"/>
              </a:defRPr>
            </a:pPr>
            <a:r>
              <a:t>FINAL DOCTORAL CONVOCATION</a:t>
            </a:r>
          </a:p>
          <a:p>
            <a:pPr>
              <a:spcBef>
                <a:spcPts val="400"/>
              </a:spcBef>
              <a:defRPr sz="1800" b="1">
                <a:solidFill>
                  <a:srgbClr val="133A26"/>
                </a:solidFill>
                <a:latin typeface="Segoe UI"/>
              </a:defRPr>
            </a:pPr>
            <a:r>
              <a:t>Full Accountability to Degree Conferment</a:t>
            </a:r>
          </a:p>
          <a:p>
            <a:pPr>
              <a:spcBef>
                <a:spcPts val="800"/>
              </a:spcBef>
              <a:defRPr sz="1100">
                <a:solidFill>
                  <a:srgbClr val="0F172A"/>
                </a:solidFill>
                <a:latin typeface="Segoe UI"/>
              </a:defRPr>
            </a:pPr>
            <a:r>
              <a:t>• Supervisor &amp; HOD Final Sign-off: Final bound thesis receives digital signature approvals.</a:t>
            </a:r>
          </a:p>
          <a:p>
            <a:pPr>
              <a:spcBef>
                <a:spcPts val="800"/>
              </a:spcBef>
              <a:defRPr sz="1100">
                <a:solidFill>
                  <a:srgbClr val="0F172A"/>
                </a:solidFill>
                <a:latin typeface="Segoe UI"/>
              </a:defRPr>
            </a:pPr>
            <a:r>
              <a:t>• External Examiner Dispatch Tracking: Eliminates 'lost in transit' delays with dispatch method and tracking number logs.</a:t>
            </a:r>
          </a:p>
          <a:p>
            <a:pPr>
              <a:spcBef>
                <a:spcPts val="800"/>
              </a:spcBef>
              <a:defRPr sz="1100">
                <a:solidFill>
                  <a:srgbClr val="0F172A"/>
                </a:solidFill>
                <a:latin typeface="Segoe UI"/>
              </a:defRPr>
            </a:pPr>
            <a:r>
              <a:t>• Evaluation Report Recording: Positive examiner reports trigger oral Viva-Voce defense scheduling.</a:t>
            </a:r>
          </a:p>
          <a:p>
            <a:pPr>
              <a:spcBef>
                <a:spcPts val="800"/>
              </a:spcBef>
              <a:defRPr sz="1100">
                <a:solidFill>
                  <a:srgbClr val="0F172A"/>
                </a:solidFill>
                <a:latin typeface="Segoe UI"/>
              </a:defRPr>
            </a:pPr>
            <a:r>
              <a:t>• Official Degree Conferment: Following successful defense, the degree award status is updated, generating an immutable doctoral archive record.</a:t>
            </a:r>
          </a:p>
        </p:txBody>
      </p:sp>
      <p:sp>
        <p:nvSpPr>
          <p:cNvPr id="6" name="Rounded Rectangle 5"/>
          <p:cNvSpPr/>
          <p:nvPr/>
        </p:nvSpPr>
        <p:spPr>
          <a:xfrm>
            <a:off x="612648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1_sync_faculty_supervisor_dashboard.png"/>
          <p:cNvPicPr>
            <a:picLocks noChangeAspect="1"/>
          </p:cNvPicPr>
          <p:nvPr/>
        </p:nvPicPr>
        <p:blipFill>
          <a:blip r:embed="rId3"/>
          <a:stretch>
            <a:fillRect/>
          </a:stretch>
        </p:blipFill>
        <p:spPr>
          <a:xfrm>
            <a:off x="6199632" y="1444752"/>
            <a:ext cx="5157216" cy="4315968"/>
          </a:xfrm>
          <a:prstGeom prst="rect">
            <a:avLst/>
          </a:prstGeom>
        </p:spPr>
      </p:pic>
      <p:sp>
        <p:nvSpPr>
          <p:cNvPr id="8" name="TextBox 7"/>
          <p:cNvSpPr txBox="1"/>
          <p:nvPr/>
        </p:nvSpPr>
        <p:spPr>
          <a:xfrm>
            <a:off x="6199632" y="5815584"/>
            <a:ext cx="5157216" cy="292608"/>
          </a:xfrm>
          <a:prstGeom prst="rect">
            <a:avLst/>
          </a:prstGeom>
          <a:noFill/>
        </p:spPr>
        <p:txBody>
          <a:bodyPr wrap="none" tIns="0" bIns="0" lIns="0" rIns="0">
            <a:spAutoFit/>
          </a:bodyPr>
          <a:lstStyle/>
          <a:p>
            <a:pPr algn="ctr">
              <a:defRPr sz="850" b="1">
                <a:solidFill>
                  <a:srgbClr val="0F766E"/>
                </a:solidFill>
                <a:latin typeface="Segoe UI"/>
              </a:defRPr>
            </a:pPr>
            <a:r>
              <a:t>LIVE INTERFACE: Supervisor Sign-Off &amp; Candidate Evaluation Console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C59B27"/>
                </a:solidFill>
                <a:latin typeface="Segoe UI"/>
              </a:defRPr>
            </a:pPr>
            <a:r>
              <a:t>SCHOLARSYNC DASHBOARDS</a:t>
            </a:r>
          </a:p>
          <a:p>
            <a:pPr>
              <a:spcBef>
                <a:spcPts val="300"/>
              </a:spcBef>
              <a:defRPr sz="2200" b="1">
                <a:solidFill>
                  <a:srgbClr val="133A26"/>
                </a:solidFill>
                <a:latin typeface="Segoe UI"/>
              </a:defRPr>
            </a:pPr>
            <a:r>
              <a:t>Role-Based Leadership: Scholar, Supervisor &amp; HOD Dashboards</a:t>
            </a:r>
          </a:p>
        </p:txBody>
      </p:sp>
      <p:pic>
        <p:nvPicPr>
          <p:cNvPr id="3" name="Picture 2" descr="hpu_logo.png"/>
          <p:cNvPicPr>
            <a:picLocks noChangeAspect="1"/>
          </p:cNvPicPr>
          <p:nvPr/>
        </p:nvPicPr>
        <p:blipFill>
          <a:blip r:embed="rId2"/>
          <a:stretch>
            <a:fillRect/>
          </a:stretch>
        </p:blipFill>
        <p:spPr>
          <a:xfrm>
            <a:off x="11064240" y="320040"/>
            <a:ext cx="777240" cy="777240"/>
          </a:xfrm>
          <a:prstGeom prst="rect">
            <a:avLst/>
          </a:prstGeom>
        </p:spPr>
      </p:pic>
      <p:sp>
        <p:nvSpPr>
          <p:cNvPr id="4" name="TextBox 3"/>
          <p:cNvSpPr txBox="1"/>
          <p:nvPr/>
        </p:nvSpPr>
        <p:spPr>
          <a:xfrm>
            <a:off x="731520" y="6355080"/>
            <a:ext cx="10728655" cy="365760"/>
          </a:xfrm>
          <a:prstGeom prst="rect">
            <a:avLst/>
          </a:prstGeom>
          <a:noFill/>
        </p:spPr>
        <p:txBody>
          <a:bodyPr wrap="square" lIns="0" tIns="0" rIns="0" bIns="0">
            <a:spAutoFit/>
          </a:bodyPr>
          <a:lstStyle/>
          <a:p>
            <a:pPr>
              <a:defRPr sz="900">
                <a:solidFill>
                  <a:srgbClr val="475569"/>
                </a:solidFill>
                <a:latin typeface="Segoe UI"/>
              </a:defRPr>
            </a:pPr>
            <a:r>
              <a:t>Himachal Pradesh University, Shimla  |  ScholarHub Digital Research &amp; Governance Ecosystem  |  Slide 13 of 25</a:t>
            </a:r>
          </a:p>
        </p:txBody>
      </p:sp>
      <p:sp>
        <p:nvSpPr>
          <p:cNvPr id="5" name="Rounded Rectangle 4"/>
          <p:cNvSpPr/>
          <p:nvPr/>
        </p:nvSpPr>
        <p:spPr>
          <a:xfrm>
            <a:off x="731520" y="1463040"/>
            <a:ext cx="521208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11_sync_faculty_supervisor_dashboard.png"/>
          <p:cNvPicPr>
            <a:picLocks noChangeAspect="1"/>
          </p:cNvPicPr>
          <p:nvPr/>
        </p:nvPicPr>
        <p:blipFill>
          <a:blip r:embed="rId3"/>
          <a:stretch>
            <a:fillRect/>
          </a:stretch>
        </p:blipFill>
        <p:spPr>
          <a:xfrm>
            <a:off x="804672" y="1536192"/>
            <a:ext cx="5065776" cy="3950208"/>
          </a:xfrm>
          <a:prstGeom prst="rect">
            <a:avLst/>
          </a:prstGeom>
        </p:spPr>
      </p:pic>
      <p:sp>
        <p:nvSpPr>
          <p:cNvPr id="7" name="TextBox 6"/>
          <p:cNvSpPr txBox="1"/>
          <p:nvPr/>
        </p:nvSpPr>
        <p:spPr>
          <a:xfrm>
            <a:off x="804672" y="5541264"/>
            <a:ext cx="5065776" cy="292608"/>
          </a:xfrm>
          <a:prstGeom prst="rect">
            <a:avLst/>
          </a:prstGeom>
          <a:noFill/>
        </p:spPr>
        <p:txBody>
          <a:bodyPr wrap="none" tIns="0" bIns="0" lIns="0" rIns="0">
            <a:spAutoFit/>
          </a:bodyPr>
          <a:lstStyle/>
          <a:p>
            <a:pPr algn="ctr">
              <a:defRPr sz="850" b="1">
                <a:solidFill>
                  <a:srgbClr val="0F766E"/>
                </a:solidFill>
                <a:latin typeface="Segoe UI"/>
              </a:defRPr>
            </a:pPr>
            <a:r>
              <a:t>LIVE INTERFACE: Supervisor Dashboard: Active Scholars, Pending RAC Reviews &amp; Coursework Approvals</a:t>
            </a:r>
          </a:p>
        </p:txBody>
      </p:sp>
      <p:sp>
        <p:nvSpPr>
          <p:cNvPr id="8" name="Rounded Rectangle 7"/>
          <p:cNvSpPr/>
          <p:nvPr/>
        </p:nvSpPr>
        <p:spPr>
          <a:xfrm>
            <a:off x="6217920" y="1463040"/>
            <a:ext cx="521208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12_sync_hod_admin_dashboard.png"/>
          <p:cNvPicPr>
            <a:picLocks noChangeAspect="1"/>
          </p:cNvPicPr>
          <p:nvPr/>
        </p:nvPicPr>
        <p:blipFill>
          <a:blip r:embed="rId4"/>
          <a:stretch>
            <a:fillRect/>
          </a:stretch>
        </p:blipFill>
        <p:spPr>
          <a:xfrm>
            <a:off x="6291072" y="1536192"/>
            <a:ext cx="5065776" cy="3950208"/>
          </a:xfrm>
          <a:prstGeom prst="rect">
            <a:avLst/>
          </a:prstGeom>
        </p:spPr>
      </p:pic>
      <p:sp>
        <p:nvSpPr>
          <p:cNvPr id="10" name="TextBox 9"/>
          <p:cNvSpPr txBox="1"/>
          <p:nvPr/>
        </p:nvSpPr>
        <p:spPr>
          <a:xfrm>
            <a:off x="6291072" y="5541264"/>
            <a:ext cx="5065776" cy="292608"/>
          </a:xfrm>
          <a:prstGeom prst="rect">
            <a:avLst/>
          </a:prstGeom>
          <a:noFill/>
        </p:spPr>
        <p:txBody>
          <a:bodyPr wrap="none" tIns="0" bIns="0" lIns="0" rIns="0">
            <a:spAutoFit/>
          </a:bodyPr>
          <a:lstStyle/>
          <a:p>
            <a:pPr algn="ctr">
              <a:defRPr sz="850" b="1">
                <a:solidFill>
                  <a:srgbClr val="0F766E"/>
                </a:solidFill>
                <a:latin typeface="Segoe UI"/>
              </a:defRPr>
            </a:pPr>
            <a:r>
              <a:t>LIVE INTERFACE: HOD / Dean Dashboard: Department Allocation, DRC Meetings &amp; Degree Awarding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C59B27"/>
                </a:solidFill>
                <a:latin typeface="Segoe UI"/>
              </a:defRPr>
            </a:pPr>
            <a:r>
              <a:t>PORTAL 3: ATTENDANCE MANAGEMENT</a:t>
            </a:r>
          </a:p>
          <a:p>
            <a:pPr>
              <a:spcBef>
                <a:spcPts val="300"/>
              </a:spcBef>
              <a:defRPr sz="2200" b="1">
                <a:solidFill>
                  <a:srgbClr val="133A26"/>
                </a:solidFill>
                <a:latin typeface="Segoe UI"/>
              </a:defRPr>
            </a:pPr>
            <a:r>
              <a:t>ScholarTrack: Integrated Attendance &amp; Leave Engine</a:t>
            </a:r>
          </a:p>
        </p:txBody>
      </p:sp>
      <p:pic>
        <p:nvPicPr>
          <p:cNvPr id="3" name="Picture 2" descr="hpu_logo.png"/>
          <p:cNvPicPr>
            <a:picLocks noChangeAspect="1"/>
          </p:cNvPicPr>
          <p:nvPr/>
        </p:nvPicPr>
        <p:blipFill>
          <a:blip r:embed="rId2"/>
          <a:stretch>
            <a:fillRect/>
          </a:stretch>
        </p:blipFill>
        <p:spPr>
          <a:xfrm>
            <a:off x="11064240" y="320040"/>
            <a:ext cx="777240" cy="777240"/>
          </a:xfrm>
          <a:prstGeom prst="rect">
            <a:avLst/>
          </a:prstGeom>
        </p:spPr>
      </p:pic>
      <p:sp>
        <p:nvSpPr>
          <p:cNvPr id="4" name="TextBox 3"/>
          <p:cNvSpPr txBox="1"/>
          <p:nvPr/>
        </p:nvSpPr>
        <p:spPr>
          <a:xfrm>
            <a:off x="731520" y="6355080"/>
            <a:ext cx="10728655" cy="365760"/>
          </a:xfrm>
          <a:prstGeom prst="rect">
            <a:avLst/>
          </a:prstGeom>
          <a:noFill/>
        </p:spPr>
        <p:txBody>
          <a:bodyPr wrap="square" lIns="0" tIns="0" rIns="0" bIns="0">
            <a:spAutoFit/>
          </a:bodyPr>
          <a:lstStyle/>
          <a:p>
            <a:pPr>
              <a:defRPr sz="900">
                <a:solidFill>
                  <a:srgbClr val="475569"/>
                </a:solidFill>
                <a:latin typeface="Segoe UI"/>
              </a:defRPr>
            </a:pPr>
            <a:r>
              <a:t>Himachal Pradesh University, Shimla  |  ScholarHub Digital Research &amp; Governance Ecosystem  |  Slide 14 of 25</a:t>
            </a:r>
          </a:p>
        </p:txBody>
      </p:sp>
      <p:sp>
        <p:nvSpPr>
          <p:cNvPr id="5" name="TextBox 4"/>
          <p:cNvSpPr txBox="1"/>
          <p:nvPr/>
        </p:nvSpPr>
        <p:spPr>
          <a:xfrm>
            <a:off x="731520" y="1463040"/>
            <a:ext cx="5120640" cy="4572000"/>
          </a:xfrm>
          <a:prstGeom prst="rect">
            <a:avLst/>
          </a:prstGeom>
          <a:noFill/>
        </p:spPr>
        <p:txBody>
          <a:bodyPr wrap="square" lIns="0" rIns="0" tIns="0" bIns="0">
            <a:spAutoFit/>
          </a:bodyPr>
          <a:lstStyle/>
          <a:p>
            <a:pPr>
              <a:defRPr sz="1100" b="1">
                <a:solidFill>
                  <a:srgbClr val="0F766E"/>
                </a:solidFill>
                <a:latin typeface="Segoe UI"/>
              </a:defRPr>
            </a:pPr>
            <a:r>
              <a:t>ATTENDANCE MANAGEMENT SYSTEM (AMS)</a:t>
            </a:r>
          </a:p>
          <a:p>
            <a:pPr>
              <a:spcBef>
                <a:spcPts val="400"/>
              </a:spcBef>
              <a:defRPr sz="1800" b="1">
                <a:solidFill>
                  <a:srgbClr val="133A26"/>
                </a:solidFill>
                <a:latin typeface="Segoe UI"/>
              </a:defRPr>
            </a:pPr>
            <a:r>
              <a:t>Rigorous Academic Presence Monitoring</a:t>
            </a:r>
          </a:p>
          <a:p>
            <a:pPr>
              <a:spcBef>
                <a:spcPts val="800"/>
              </a:spcBef>
              <a:defRPr sz="1200">
                <a:solidFill>
                  <a:srgbClr val="0F172A"/>
                </a:solidFill>
                <a:latin typeface="Segoe UI"/>
              </a:defRPr>
            </a:pPr>
            <a:r>
              <a:t>ScholarTrack (track.scholarhubhpu.in) is an institutional-grade attendance and leave management platform connecting scholars, faculty, department chairs, and the university finance office.</a:t>
            </a:r>
          </a:p>
          <a:p>
            <a:pPr>
              <a:spcBef>
                <a:spcPts val="1200"/>
              </a:spcBef>
              <a:defRPr sz="1100" b="1">
                <a:solidFill>
                  <a:srgbClr val="C59B27"/>
                </a:solidFill>
                <a:latin typeface="Segoe UI"/>
              </a:defRPr>
            </a:pPr>
            <a:r>
              <a:t>WHY IT WAS DEVELOPED:</a:t>
            </a:r>
          </a:p>
          <a:p>
            <a:pPr>
              <a:spcBef>
                <a:spcPts val="600"/>
              </a:spcBef>
              <a:defRPr sz="1100">
                <a:solidFill>
                  <a:srgbClr val="0F172A"/>
                </a:solidFill>
                <a:latin typeface="Segoe UI"/>
              </a:defRPr>
            </a:pPr>
            <a:r>
              <a:t>• Enforces the mandatory UGC 75% attendance rule for semester exams and course credits.</a:t>
            </a:r>
          </a:p>
          <a:p>
            <a:pPr>
              <a:spcBef>
                <a:spcPts val="600"/>
              </a:spcBef>
              <a:defRPr sz="1100">
                <a:solidFill>
                  <a:srgbClr val="0F172A"/>
                </a:solidFill>
                <a:latin typeface="Segoe UI"/>
              </a:defRPr>
            </a:pPr>
            <a:r>
              <a:t>• Eliminates paper attendance registers prone to tampering, proxy attendance, and wear-and-tear.</a:t>
            </a:r>
          </a:p>
          <a:p>
            <a:pPr>
              <a:spcBef>
                <a:spcPts val="600"/>
              </a:spcBef>
              <a:defRPr sz="1100">
                <a:solidFill>
                  <a:srgbClr val="0F172A"/>
                </a:solidFill>
                <a:latin typeface="Segoe UI"/>
              </a:defRPr>
            </a:pPr>
            <a:r>
              <a:t>• Guarantees that research scholars maintain verified daily presence before monthly stipends are released.</a:t>
            </a:r>
          </a:p>
          <a:p>
            <a:pPr>
              <a:spcBef>
                <a:spcPts val="600"/>
              </a:spcBef>
              <a:defRPr sz="1100">
                <a:solidFill>
                  <a:srgbClr val="0F172A"/>
                </a:solidFill>
                <a:latin typeface="Segoe UI"/>
              </a:defRPr>
            </a:pPr>
            <a:r>
              <a:t>• Who is it for? Ph.D. Scholars, Postgraduate Students, Faculty Instructors, Department HODs, and Finance/Accounts branch.</a:t>
            </a:r>
          </a:p>
        </p:txBody>
      </p:sp>
      <p:sp>
        <p:nvSpPr>
          <p:cNvPr id="6" name="Rounded Rectangle 5"/>
          <p:cNvSpPr/>
          <p:nvPr/>
        </p:nvSpPr>
        <p:spPr>
          <a:xfrm>
            <a:off x="612648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3_track_student_overview.png"/>
          <p:cNvPicPr>
            <a:picLocks noChangeAspect="1"/>
          </p:cNvPicPr>
          <p:nvPr/>
        </p:nvPicPr>
        <p:blipFill>
          <a:blip r:embed="rId3"/>
          <a:stretch>
            <a:fillRect/>
          </a:stretch>
        </p:blipFill>
        <p:spPr>
          <a:xfrm>
            <a:off x="6199632" y="1444752"/>
            <a:ext cx="5157216" cy="4315968"/>
          </a:xfrm>
          <a:prstGeom prst="rect">
            <a:avLst/>
          </a:prstGeom>
        </p:spPr>
      </p:pic>
      <p:sp>
        <p:nvSpPr>
          <p:cNvPr id="8" name="TextBox 7"/>
          <p:cNvSpPr txBox="1"/>
          <p:nvPr/>
        </p:nvSpPr>
        <p:spPr>
          <a:xfrm>
            <a:off x="6199632" y="5815584"/>
            <a:ext cx="5157216" cy="292608"/>
          </a:xfrm>
          <a:prstGeom prst="rect">
            <a:avLst/>
          </a:prstGeom>
          <a:noFill/>
        </p:spPr>
        <p:txBody>
          <a:bodyPr wrap="none" tIns="0" bIns="0" lIns="0" rIns="0">
            <a:spAutoFit/>
          </a:bodyPr>
          <a:lstStyle/>
          <a:p>
            <a:pPr algn="ctr">
              <a:defRPr sz="850" b="1">
                <a:solidFill>
                  <a:srgbClr val="0F766E"/>
                </a:solidFill>
                <a:latin typeface="Segoe UI"/>
              </a:defRPr>
            </a:pPr>
            <a:r>
              <a:t>LIVE INTERFACE: ScholarTrack Student &amp; Scholar Attendance Overview Console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C59B27"/>
                </a:solidFill>
                <a:latin typeface="Segoe UI"/>
              </a:defRPr>
            </a:pPr>
            <a:r>
              <a:t>CORE UNIVERSITY BENEFIT</a:t>
            </a:r>
          </a:p>
          <a:p>
            <a:pPr>
              <a:spcBef>
                <a:spcPts val="300"/>
              </a:spcBef>
              <a:defRPr sz="2200" b="1">
                <a:solidFill>
                  <a:srgbClr val="133A26"/>
                </a:solidFill>
                <a:latin typeface="Segoe UI"/>
              </a:defRPr>
            </a:pPr>
            <a:r>
              <a:t>University Benefit: Fiscal Integrity &amp; Fellowship Stipend Compliance</a:t>
            </a:r>
          </a:p>
        </p:txBody>
      </p:sp>
      <p:pic>
        <p:nvPicPr>
          <p:cNvPr id="3" name="Picture 2" descr="hpu_logo.png"/>
          <p:cNvPicPr>
            <a:picLocks noChangeAspect="1"/>
          </p:cNvPicPr>
          <p:nvPr/>
        </p:nvPicPr>
        <p:blipFill>
          <a:blip r:embed="rId2"/>
          <a:stretch>
            <a:fillRect/>
          </a:stretch>
        </p:blipFill>
        <p:spPr>
          <a:xfrm>
            <a:off x="11064240" y="320040"/>
            <a:ext cx="777240" cy="777240"/>
          </a:xfrm>
          <a:prstGeom prst="rect">
            <a:avLst/>
          </a:prstGeom>
        </p:spPr>
      </p:pic>
      <p:sp>
        <p:nvSpPr>
          <p:cNvPr id="4" name="TextBox 3"/>
          <p:cNvSpPr txBox="1"/>
          <p:nvPr/>
        </p:nvSpPr>
        <p:spPr>
          <a:xfrm>
            <a:off x="731520" y="6355080"/>
            <a:ext cx="10728655" cy="365760"/>
          </a:xfrm>
          <a:prstGeom prst="rect">
            <a:avLst/>
          </a:prstGeom>
          <a:noFill/>
        </p:spPr>
        <p:txBody>
          <a:bodyPr wrap="square" lIns="0" tIns="0" rIns="0" bIns="0">
            <a:spAutoFit/>
          </a:bodyPr>
          <a:lstStyle/>
          <a:p>
            <a:pPr>
              <a:defRPr sz="900">
                <a:solidFill>
                  <a:srgbClr val="475569"/>
                </a:solidFill>
                <a:latin typeface="Segoe UI"/>
              </a:defRPr>
            </a:pPr>
            <a:r>
              <a:t>Himachal Pradesh University, Shimla  |  ScholarHub Digital Research &amp; Governance Ecosystem  |  Slide 15 of 25</a:t>
            </a:r>
          </a:p>
        </p:txBody>
      </p:sp>
      <p:sp>
        <p:nvSpPr>
          <p:cNvPr id="5" name="Rounded Rectangle 4"/>
          <p:cNvSpPr/>
          <p:nvPr/>
        </p:nvSpPr>
        <p:spPr>
          <a:xfrm>
            <a:off x="731520" y="146304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000" b="1">
                <a:solidFill>
                  <a:srgbClr val="C59B27"/>
                </a:solidFill>
                <a:latin typeface="Segoe UI"/>
              </a:defRPr>
            </a:pPr>
            <a:r>
              <a:t>STATUTORY AUDIT PROTECTION</a:t>
            </a:r>
          </a:p>
          <a:p>
            <a:pPr>
              <a:spcBef>
                <a:spcPts val="600"/>
              </a:spcBef>
              <a:defRPr sz="1600" b="1">
                <a:solidFill>
                  <a:srgbClr val="133A26"/>
                </a:solidFill>
                <a:latin typeface="Segoe UI"/>
              </a:defRPr>
            </a:pPr>
            <a:r>
              <a:t>CAG &amp; State Audit Compliance</a:t>
            </a:r>
          </a:p>
          <a:p>
            <a:pPr>
              <a:spcBef>
                <a:spcPts val="1200"/>
              </a:spcBef>
              <a:defRPr sz="1200">
                <a:solidFill>
                  <a:srgbClr val="475569"/>
                </a:solidFill>
                <a:latin typeface="Segoe UI"/>
              </a:defRPr>
            </a:pPr>
            <a:r>
              <a:t>Government audit teams strictly demand verified proof of physical attendance before admitting fellowship expenditures. ScholarTrack creates an immutable, timestamped digital attendance trail for every disbursed rupee.</a:t>
            </a:r>
          </a:p>
        </p:txBody>
      </p:sp>
      <p:sp>
        <p:nvSpPr>
          <p:cNvPr id="6" name="Rounded Rectangle 5"/>
          <p:cNvSpPr/>
          <p:nvPr/>
        </p:nvSpPr>
        <p:spPr>
          <a:xfrm>
            <a:off x="4389120" y="146304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000" b="1">
                <a:solidFill>
                  <a:srgbClr val="C59B27"/>
                </a:solidFill>
                <a:latin typeface="Segoe UI"/>
              </a:defRPr>
            </a:pPr>
            <a:r>
              <a:t>ZERO GHOST SCHOLARS</a:t>
            </a:r>
          </a:p>
          <a:p>
            <a:pPr>
              <a:spcBef>
                <a:spcPts val="600"/>
              </a:spcBef>
              <a:defRPr sz="1600" b="1">
                <a:solidFill>
                  <a:srgbClr val="133A26"/>
                </a:solidFill>
                <a:latin typeface="Segoe UI"/>
              </a:defRPr>
            </a:pPr>
            <a:r>
              <a:t>JRF / SRF / NFSC Fellowship Verification</a:t>
            </a:r>
          </a:p>
          <a:p>
            <a:pPr>
              <a:spcBef>
                <a:spcPts val="1200"/>
              </a:spcBef>
              <a:defRPr sz="1200">
                <a:solidFill>
                  <a:srgbClr val="475569"/>
                </a:solidFill>
                <a:latin typeface="Segoe UI"/>
              </a:defRPr>
            </a:pPr>
            <a:r>
              <a:t>Prevents unauthorized stipend disbursements to candidates absent without approved leave. Finance office receives certified attendance extracts directly from HOD dashboards with zero manual tampering.</a:t>
            </a:r>
          </a:p>
        </p:txBody>
      </p:sp>
      <p:sp>
        <p:nvSpPr>
          <p:cNvPr id="7" name="Rounded Rectangle 6"/>
          <p:cNvSpPr/>
          <p:nvPr/>
        </p:nvSpPr>
        <p:spPr>
          <a:xfrm>
            <a:off x="8046720" y="146304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000" b="1">
                <a:solidFill>
                  <a:srgbClr val="C59B27"/>
                </a:solidFill>
                <a:latin typeface="Segoe UI"/>
              </a:defRPr>
            </a:pPr>
            <a:r>
              <a:t>INSTITUTIONAL PEACE OF MIND</a:t>
            </a:r>
          </a:p>
          <a:p>
            <a:pPr>
              <a:spcBef>
                <a:spcPts val="600"/>
              </a:spcBef>
              <a:defRPr sz="1600" b="1">
                <a:solidFill>
                  <a:srgbClr val="133A26"/>
                </a:solidFill>
                <a:latin typeface="Segoe UI"/>
              </a:defRPr>
            </a:pPr>
            <a:r>
              <a:t>Eliminates Dispute &amp; Friction</a:t>
            </a:r>
          </a:p>
          <a:p>
            <a:pPr>
              <a:spcBef>
                <a:spcPts val="1200"/>
              </a:spcBef>
              <a:defRPr sz="1200">
                <a:solidFill>
                  <a:srgbClr val="475569"/>
                </a:solidFill>
                <a:latin typeface="Segoe UI"/>
              </a:defRPr>
            </a:pPr>
            <a:r>
              <a:t>Transparent leave balance ledgers and automated percentage metrics prevent end-of-semester arguments regarding detention, hall tickets, and fellowship deductions.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C59B27"/>
                </a:solidFill>
                <a:latin typeface="Segoe UI"/>
              </a:defRPr>
            </a:pPr>
            <a:r>
              <a:t>SCHOLARTRACK FEATURE</a:t>
            </a:r>
          </a:p>
          <a:p>
            <a:pPr>
              <a:spcBef>
                <a:spcPts val="300"/>
              </a:spcBef>
              <a:defRPr sz="2200" b="1">
                <a:solidFill>
                  <a:srgbClr val="133A26"/>
                </a:solidFill>
                <a:latin typeface="Segoe UI"/>
              </a:defRPr>
            </a:pPr>
            <a:r>
              <a:t>Feature 1: Daily Attendance Logs &amp; Real-Time Percentage Tracking</a:t>
            </a:r>
          </a:p>
        </p:txBody>
      </p:sp>
      <p:pic>
        <p:nvPicPr>
          <p:cNvPr id="3" name="Picture 2" descr="hpu_logo.png"/>
          <p:cNvPicPr>
            <a:picLocks noChangeAspect="1"/>
          </p:cNvPicPr>
          <p:nvPr/>
        </p:nvPicPr>
        <p:blipFill>
          <a:blip r:embed="rId2"/>
          <a:stretch>
            <a:fillRect/>
          </a:stretch>
        </p:blipFill>
        <p:spPr>
          <a:xfrm>
            <a:off x="11064240" y="320040"/>
            <a:ext cx="777240" cy="777240"/>
          </a:xfrm>
          <a:prstGeom prst="rect">
            <a:avLst/>
          </a:prstGeom>
        </p:spPr>
      </p:pic>
      <p:sp>
        <p:nvSpPr>
          <p:cNvPr id="4" name="TextBox 3"/>
          <p:cNvSpPr txBox="1"/>
          <p:nvPr/>
        </p:nvSpPr>
        <p:spPr>
          <a:xfrm>
            <a:off x="731520" y="6355080"/>
            <a:ext cx="10728655" cy="365760"/>
          </a:xfrm>
          <a:prstGeom prst="rect">
            <a:avLst/>
          </a:prstGeom>
          <a:noFill/>
        </p:spPr>
        <p:txBody>
          <a:bodyPr wrap="square" lIns="0" tIns="0" rIns="0" bIns="0">
            <a:spAutoFit/>
          </a:bodyPr>
          <a:lstStyle/>
          <a:p>
            <a:pPr>
              <a:defRPr sz="900">
                <a:solidFill>
                  <a:srgbClr val="475569"/>
                </a:solidFill>
                <a:latin typeface="Segoe UI"/>
              </a:defRPr>
            </a:pPr>
            <a:r>
              <a:t>Himachal Pradesh University, Shimla  |  ScholarHub Digital Research &amp; Governance Ecosystem  |  Slide 16 of 25</a:t>
            </a:r>
          </a:p>
        </p:txBody>
      </p:sp>
      <p:sp>
        <p:nvSpPr>
          <p:cNvPr id="5" name="TextBox 4"/>
          <p:cNvSpPr txBox="1"/>
          <p:nvPr/>
        </p:nvSpPr>
        <p:spPr>
          <a:xfrm>
            <a:off x="731520" y="1463040"/>
            <a:ext cx="5120640" cy="4572000"/>
          </a:xfrm>
          <a:prstGeom prst="rect">
            <a:avLst/>
          </a:prstGeom>
          <a:noFill/>
        </p:spPr>
        <p:txBody>
          <a:bodyPr wrap="square" lIns="0" rIns="0" tIns="0" bIns="0">
            <a:spAutoFit/>
          </a:bodyPr>
          <a:lstStyle/>
          <a:p>
            <a:pPr>
              <a:defRPr sz="1100" b="1">
                <a:solidFill>
                  <a:srgbClr val="0F766E"/>
                </a:solidFill>
                <a:latin typeface="Segoe UI"/>
              </a:defRPr>
            </a:pPr>
            <a:r>
              <a:t>ATTENDANCE VISIBILITY AT A GLANCE</a:t>
            </a:r>
          </a:p>
          <a:p>
            <a:pPr>
              <a:spcBef>
                <a:spcPts val="400"/>
              </a:spcBef>
              <a:defRPr sz="1800" b="1">
                <a:solidFill>
                  <a:srgbClr val="133A26"/>
                </a:solidFill>
                <a:latin typeface="Segoe UI"/>
              </a:defRPr>
            </a:pPr>
            <a:r>
              <a:t>Live Attendance Meter &amp; Detailed Daily Ledger</a:t>
            </a:r>
          </a:p>
          <a:p>
            <a:pPr>
              <a:spcBef>
                <a:spcPts val="800"/>
              </a:spcBef>
              <a:defRPr sz="1100">
                <a:solidFill>
                  <a:srgbClr val="0F172A"/>
                </a:solidFill>
                <a:latin typeface="Segoe UI"/>
              </a:defRPr>
            </a:pPr>
            <a:r>
              <a:t>• Live Percentage Gauge: Visual circular progress rings alert scholars immediately if their attendance approaches the 75% critical cutoff.</a:t>
            </a:r>
          </a:p>
          <a:p>
            <a:pPr>
              <a:spcBef>
                <a:spcPts val="800"/>
              </a:spcBef>
              <a:defRPr sz="1100">
                <a:solidFill>
                  <a:srgbClr val="0F172A"/>
                </a:solidFill>
                <a:latin typeface="Segoe UI"/>
              </a:defRPr>
            </a:pPr>
            <a:r>
              <a:t>• Daily &amp; Subject-Wise Records: Detailed historical ledger with status (Present, Absent, Duty Leave, Approved Leave) and session timestamps.</a:t>
            </a:r>
          </a:p>
          <a:p>
            <a:pPr>
              <a:spcBef>
                <a:spcPts val="800"/>
              </a:spcBef>
              <a:defRPr sz="1100">
                <a:solidFill>
                  <a:srgbClr val="0F172A"/>
                </a:solidFill>
                <a:latin typeface="Segoe UI"/>
              </a:defRPr>
            </a:pPr>
            <a:r>
              <a:t>• Zero End-of-Term Shocks: Students and research scholars know their attendance status on any given day without having to request manual records from departmental clerks.</a:t>
            </a:r>
          </a:p>
        </p:txBody>
      </p:sp>
      <p:sp>
        <p:nvSpPr>
          <p:cNvPr id="6" name="Rounded Rectangle 5"/>
          <p:cNvSpPr/>
          <p:nvPr/>
        </p:nvSpPr>
        <p:spPr>
          <a:xfrm>
            <a:off x="612648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4_track_student_attendance_logs.png"/>
          <p:cNvPicPr>
            <a:picLocks noChangeAspect="1"/>
          </p:cNvPicPr>
          <p:nvPr/>
        </p:nvPicPr>
        <p:blipFill>
          <a:blip r:embed="rId3"/>
          <a:stretch>
            <a:fillRect/>
          </a:stretch>
        </p:blipFill>
        <p:spPr>
          <a:xfrm>
            <a:off x="6199632" y="1444752"/>
            <a:ext cx="5157216" cy="4315968"/>
          </a:xfrm>
          <a:prstGeom prst="rect">
            <a:avLst/>
          </a:prstGeom>
        </p:spPr>
      </p:pic>
      <p:sp>
        <p:nvSpPr>
          <p:cNvPr id="8" name="TextBox 7"/>
          <p:cNvSpPr txBox="1"/>
          <p:nvPr/>
        </p:nvSpPr>
        <p:spPr>
          <a:xfrm>
            <a:off x="6199632" y="5815584"/>
            <a:ext cx="5157216" cy="292608"/>
          </a:xfrm>
          <a:prstGeom prst="rect">
            <a:avLst/>
          </a:prstGeom>
          <a:noFill/>
        </p:spPr>
        <p:txBody>
          <a:bodyPr wrap="none" tIns="0" bIns="0" lIns="0" rIns="0">
            <a:spAutoFit/>
          </a:bodyPr>
          <a:lstStyle/>
          <a:p>
            <a:pPr algn="ctr">
              <a:defRPr sz="850" b="1">
                <a:solidFill>
                  <a:srgbClr val="0F766E"/>
                </a:solidFill>
                <a:latin typeface="Segoe UI"/>
              </a:defRPr>
            </a:pPr>
            <a:r>
              <a:t>LIVE INTERFACE: Real-Time Student Attendance Ledger &amp; Monthly Analysis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C59B27"/>
                </a:solidFill>
                <a:latin typeface="Segoe UI"/>
              </a:defRPr>
            </a:pPr>
            <a:r>
              <a:t>SCHOLARTRACK FEATURE</a:t>
            </a:r>
          </a:p>
          <a:p>
            <a:pPr>
              <a:spcBef>
                <a:spcPts val="300"/>
              </a:spcBef>
              <a:defRPr sz="2200" b="1">
                <a:solidFill>
                  <a:srgbClr val="133A26"/>
                </a:solidFill>
                <a:latin typeface="Segoe UI"/>
              </a:defRPr>
            </a:pPr>
            <a:r>
              <a:t>Feature 2: Multi-Tier Paperless Leave Management</a:t>
            </a:r>
          </a:p>
        </p:txBody>
      </p:sp>
      <p:pic>
        <p:nvPicPr>
          <p:cNvPr id="3" name="Picture 2" descr="hpu_logo.png"/>
          <p:cNvPicPr>
            <a:picLocks noChangeAspect="1"/>
          </p:cNvPicPr>
          <p:nvPr/>
        </p:nvPicPr>
        <p:blipFill>
          <a:blip r:embed="rId2"/>
          <a:stretch>
            <a:fillRect/>
          </a:stretch>
        </p:blipFill>
        <p:spPr>
          <a:xfrm>
            <a:off x="11064240" y="320040"/>
            <a:ext cx="777240" cy="777240"/>
          </a:xfrm>
          <a:prstGeom prst="rect">
            <a:avLst/>
          </a:prstGeom>
        </p:spPr>
      </p:pic>
      <p:sp>
        <p:nvSpPr>
          <p:cNvPr id="4" name="TextBox 3"/>
          <p:cNvSpPr txBox="1"/>
          <p:nvPr/>
        </p:nvSpPr>
        <p:spPr>
          <a:xfrm>
            <a:off x="731520" y="6355080"/>
            <a:ext cx="10728655" cy="365760"/>
          </a:xfrm>
          <a:prstGeom prst="rect">
            <a:avLst/>
          </a:prstGeom>
          <a:noFill/>
        </p:spPr>
        <p:txBody>
          <a:bodyPr wrap="square" lIns="0" tIns="0" rIns="0" bIns="0">
            <a:spAutoFit/>
          </a:bodyPr>
          <a:lstStyle/>
          <a:p>
            <a:pPr>
              <a:defRPr sz="900">
                <a:solidFill>
                  <a:srgbClr val="475569"/>
                </a:solidFill>
                <a:latin typeface="Segoe UI"/>
              </a:defRPr>
            </a:pPr>
            <a:r>
              <a:t>Himachal Pradesh University, Shimla  |  ScholarHub Digital Research &amp; Governance Ecosystem  |  Slide 17 of 25</a:t>
            </a:r>
          </a:p>
        </p:txBody>
      </p:sp>
      <p:sp>
        <p:nvSpPr>
          <p:cNvPr id="5" name="TextBox 4"/>
          <p:cNvSpPr txBox="1"/>
          <p:nvPr/>
        </p:nvSpPr>
        <p:spPr>
          <a:xfrm>
            <a:off x="731520" y="1463040"/>
            <a:ext cx="5120640" cy="4572000"/>
          </a:xfrm>
          <a:prstGeom prst="rect">
            <a:avLst/>
          </a:prstGeom>
          <a:noFill/>
        </p:spPr>
        <p:txBody>
          <a:bodyPr wrap="square" lIns="0" rIns="0" tIns="0" bIns="0">
            <a:spAutoFit/>
          </a:bodyPr>
          <a:lstStyle/>
          <a:p>
            <a:pPr>
              <a:defRPr sz="1100" b="1">
                <a:solidFill>
                  <a:srgbClr val="0F766E"/>
                </a:solidFill>
                <a:latin typeface="Segoe UI"/>
              </a:defRPr>
            </a:pPr>
            <a:r>
              <a:t>DIGITAL WORKFLOW WITH AUDIT TRAIL</a:t>
            </a:r>
          </a:p>
          <a:p>
            <a:pPr>
              <a:spcBef>
                <a:spcPts val="400"/>
              </a:spcBef>
              <a:defRPr sz="1800" b="1">
                <a:solidFill>
                  <a:srgbClr val="133A26"/>
                </a:solidFill>
                <a:latin typeface="Segoe UI"/>
              </a:defRPr>
            </a:pPr>
            <a:r>
              <a:t>Transparent Leave Balances &amp; Fast Approvals</a:t>
            </a:r>
          </a:p>
          <a:p>
            <a:pPr>
              <a:spcBef>
                <a:spcPts val="800"/>
              </a:spcBef>
              <a:defRPr sz="1100">
                <a:solidFill>
                  <a:srgbClr val="0F172A"/>
                </a:solidFill>
                <a:latin typeface="Segoe UI"/>
              </a:defRPr>
            </a:pPr>
            <a:r>
              <a:t>• Multiple Leave Categories: Configurable for Casual Leave, Duty Leave (conferences, field surveys), and Medical Leave.</a:t>
            </a:r>
          </a:p>
          <a:p>
            <a:pPr>
              <a:spcBef>
                <a:spcPts val="800"/>
              </a:spcBef>
              <a:defRPr sz="1100">
                <a:solidFill>
                  <a:srgbClr val="0F172A"/>
                </a:solidFill>
                <a:latin typeface="Segoe UI"/>
              </a:defRPr>
            </a:pPr>
            <a:r>
              <a:t>• Supporting Document Upload: Medical certificates or conference invitations are uploaded directly and archived digitally.</a:t>
            </a:r>
          </a:p>
          <a:p>
            <a:pPr>
              <a:spcBef>
                <a:spcPts val="800"/>
              </a:spcBef>
              <a:defRPr sz="1100">
                <a:solidFill>
                  <a:srgbClr val="0F172A"/>
                </a:solidFill>
                <a:latin typeface="Segoe UI"/>
              </a:defRPr>
            </a:pPr>
            <a:r>
              <a:t>• Two-Tier Approval Chain: Candidate submits -&gt; Supervisor/Faculty recommends -&gt; Department HOD provides final approval.</a:t>
            </a:r>
          </a:p>
          <a:p>
            <a:pPr>
              <a:spcBef>
                <a:spcPts val="800"/>
              </a:spcBef>
              <a:defRPr sz="1100">
                <a:solidFill>
                  <a:srgbClr val="0F172A"/>
                </a:solidFill>
                <a:latin typeface="Segoe UI"/>
              </a:defRPr>
            </a:pPr>
            <a:r>
              <a:t>• Automatic Balance Deduction: Approved leaves adjust student attendance and balance counters in real-time.</a:t>
            </a:r>
          </a:p>
        </p:txBody>
      </p:sp>
      <p:sp>
        <p:nvSpPr>
          <p:cNvPr id="6" name="Rounded Rectangle 5"/>
          <p:cNvSpPr/>
          <p:nvPr/>
        </p:nvSpPr>
        <p:spPr>
          <a:xfrm>
            <a:off x="612648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5_track_student_leave_management.png"/>
          <p:cNvPicPr>
            <a:picLocks noChangeAspect="1"/>
          </p:cNvPicPr>
          <p:nvPr/>
        </p:nvPicPr>
        <p:blipFill>
          <a:blip r:embed="rId3"/>
          <a:stretch>
            <a:fillRect/>
          </a:stretch>
        </p:blipFill>
        <p:spPr>
          <a:xfrm>
            <a:off x="6199632" y="1444752"/>
            <a:ext cx="5157216" cy="4315968"/>
          </a:xfrm>
          <a:prstGeom prst="rect">
            <a:avLst/>
          </a:prstGeom>
        </p:spPr>
      </p:pic>
      <p:sp>
        <p:nvSpPr>
          <p:cNvPr id="8" name="TextBox 7"/>
          <p:cNvSpPr txBox="1"/>
          <p:nvPr/>
        </p:nvSpPr>
        <p:spPr>
          <a:xfrm>
            <a:off x="6199632" y="5815584"/>
            <a:ext cx="5157216" cy="292608"/>
          </a:xfrm>
          <a:prstGeom prst="rect">
            <a:avLst/>
          </a:prstGeom>
          <a:noFill/>
        </p:spPr>
        <p:txBody>
          <a:bodyPr wrap="none" tIns="0" bIns="0" lIns="0" rIns="0">
            <a:spAutoFit/>
          </a:bodyPr>
          <a:lstStyle/>
          <a:p>
            <a:pPr algn="ctr">
              <a:defRPr sz="850" b="1">
                <a:solidFill>
                  <a:srgbClr val="0F766E"/>
                </a:solidFill>
                <a:latin typeface="Segoe UI"/>
              </a:defRPr>
            </a:pPr>
            <a:r>
              <a:t>LIVE INTERFACE: Paperless Student Leave Application &amp; Quota Balance Ledger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C59B27"/>
                </a:solidFill>
                <a:latin typeface="Segoe UI"/>
              </a:defRPr>
            </a:pPr>
            <a:r>
              <a:t>SCHOLARTRACK FEATURE</a:t>
            </a:r>
          </a:p>
          <a:p>
            <a:pPr>
              <a:spcBef>
                <a:spcPts val="300"/>
              </a:spcBef>
              <a:defRPr sz="2200" b="1">
                <a:solidFill>
                  <a:srgbClr val="133A26"/>
                </a:solidFill>
                <a:latin typeface="Segoe UI"/>
              </a:defRPr>
            </a:pPr>
            <a:r>
              <a:t>Feature 3: Defaulter Risk Engine &amp; Automated Detention Alerts</a:t>
            </a:r>
          </a:p>
        </p:txBody>
      </p:sp>
      <p:pic>
        <p:nvPicPr>
          <p:cNvPr id="3" name="Picture 2" descr="hpu_logo.png"/>
          <p:cNvPicPr>
            <a:picLocks noChangeAspect="1"/>
          </p:cNvPicPr>
          <p:nvPr/>
        </p:nvPicPr>
        <p:blipFill>
          <a:blip r:embed="rId2"/>
          <a:stretch>
            <a:fillRect/>
          </a:stretch>
        </p:blipFill>
        <p:spPr>
          <a:xfrm>
            <a:off x="11064240" y="320040"/>
            <a:ext cx="777240" cy="777240"/>
          </a:xfrm>
          <a:prstGeom prst="rect">
            <a:avLst/>
          </a:prstGeom>
        </p:spPr>
      </p:pic>
      <p:sp>
        <p:nvSpPr>
          <p:cNvPr id="4" name="TextBox 3"/>
          <p:cNvSpPr txBox="1"/>
          <p:nvPr/>
        </p:nvSpPr>
        <p:spPr>
          <a:xfrm>
            <a:off x="731520" y="6355080"/>
            <a:ext cx="10728655" cy="365760"/>
          </a:xfrm>
          <a:prstGeom prst="rect">
            <a:avLst/>
          </a:prstGeom>
          <a:noFill/>
        </p:spPr>
        <p:txBody>
          <a:bodyPr wrap="square" lIns="0" tIns="0" rIns="0" bIns="0">
            <a:spAutoFit/>
          </a:bodyPr>
          <a:lstStyle/>
          <a:p>
            <a:pPr>
              <a:defRPr sz="900">
                <a:solidFill>
                  <a:srgbClr val="475569"/>
                </a:solidFill>
                <a:latin typeface="Segoe UI"/>
              </a:defRPr>
            </a:pPr>
            <a:r>
              <a:t>Himachal Pradesh University, Shimla  |  ScholarHub Digital Research &amp; Governance Ecosystem  |  Slide 18 of 25</a:t>
            </a:r>
          </a:p>
        </p:txBody>
      </p:sp>
      <p:sp>
        <p:nvSpPr>
          <p:cNvPr id="5" name="TextBox 4"/>
          <p:cNvSpPr txBox="1"/>
          <p:nvPr/>
        </p:nvSpPr>
        <p:spPr>
          <a:xfrm>
            <a:off x="731520" y="1463040"/>
            <a:ext cx="5120640" cy="4572000"/>
          </a:xfrm>
          <a:prstGeom prst="rect">
            <a:avLst/>
          </a:prstGeom>
          <a:noFill/>
        </p:spPr>
        <p:txBody>
          <a:bodyPr wrap="square" lIns="0" rIns="0" tIns="0" bIns="0">
            <a:spAutoFit/>
          </a:bodyPr>
          <a:lstStyle/>
          <a:p>
            <a:pPr>
              <a:defRPr sz="1100" b="1">
                <a:solidFill>
                  <a:srgbClr val="0F766E"/>
                </a:solidFill>
                <a:latin typeface="Segoe UI"/>
              </a:defRPr>
            </a:pPr>
            <a:r>
              <a:t>ACADEMIC STANDARDS ENFORCEMENT</a:t>
            </a:r>
          </a:p>
          <a:p>
            <a:pPr>
              <a:spcBef>
                <a:spcPts val="400"/>
              </a:spcBef>
              <a:defRPr sz="1800" b="1">
                <a:solidFill>
                  <a:srgbClr val="133A26"/>
                </a:solidFill>
                <a:latin typeface="Segoe UI"/>
              </a:defRPr>
            </a:pPr>
            <a:r>
              <a:t>Instant Identification of At-Risk Students (&lt;75%)</a:t>
            </a:r>
          </a:p>
          <a:p>
            <a:pPr>
              <a:spcBef>
                <a:spcPts val="800"/>
              </a:spcBef>
              <a:defRPr sz="1100">
                <a:solidFill>
                  <a:srgbClr val="0F172A"/>
                </a:solidFill>
                <a:latin typeface="Segoe UI"/>
              </a:defRPr>
            </a:pPr>
            <a:r>
              <a:t>• Automated Defaulter Computation: Algorithm scans attendance across all departments and categorizes students &lt;75% and critical &lt;65%.</a:t>
            </a:r>
          </a:p>
          <a:p>
            <a:pPr>
              <a:spcBef>
                <a:spcPts val="800"/>
              </a:spcBef>
              <a:defRPr sz="1100">
                <a:solidFill>
                  <a:srgbClr val="0F172A"/>
                </a:solidFill>
                <a:latin typeface="Segoe UI"/>
              </a:defRPr>
            </a:pPr>
            <a:r>
              <a:t>• Executive HOD &amp; Dean Drill-Down: Leadership can view student-wise attendance logs, missed classes, and medical exemptions.</a:t>
            </a:r>
          </a:p>
          <a:p>
            <a:pPr>
              <a:spcBef>
                <a:spcPts val="800"/>
              </a:spcBef>
              <a:defRPr sz="1100">
                <a:solidFill>
                  <a:srgbClr val="0F172A"/>
                </a:solidFill>
                <a:latin typeface="Segoe UI"/>
              </a:defRPr>
            </a:pPr>
            <a:r>
              <a:t>• Legally Defensible Examination Holds: Eliminates subjective favoritism or last-minute disputes over admit card issuance.</a:t>
            </a:r>
          </a:p>
          <a:p>
            <a:pPr>
              <a:spcBef>
                <a:spcPts val="800"/>
              </a:spcBef>
              <a:defRPr sz="1100">
                <a:solidFill>
                  <a:srgbClr val="0F172A"/>
                </a:solidFill>
                <a:latin typeface="Segoe UI"/>
              </a:defRPr>
            </a:pPr>
            <a:r>
              <a:t>• Automated Warning Emails: Students receive proactive alerts weeks before exams to recover their required attendance.</a:t>
            </a:r>
          </a:p>
        </p:txBody>
      </p:sp>
      <p:sp>
        <p:nvSpPr>
          <p:cNvPr id="6" name="Rounded Rectangle 5"/>
          <p:cNvSpPr/>
          <p:nvPr/>
        </p:nvSpPr>
        <p:spPr>
          <a:xfrm>
            <a:off x="612648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7_track_hod_approvals_defaulters.png"/>
          <p:cNvPicPr>
            <a:picLocks noChangeAspect="1"/>
          </p:cNvPicPr>
          <p:nvPr/>
        </p:nvPicPr>
        <p:blipFill>
          <a:blip r:embed="rId3"/>
          <a:stretch>
            <a:fillRect/>
          </a:stretch>
        </p:blipFill>
        <p:spPr>
          <a:xfrm>
            <a:off x="6199632" y="1444752"/>
            <a:ext cx="5157216" cy="4315968"/>
          </a:xfrm>
          <a:prstGeom prst="rect">
            <a:avLst/>
          </a:prstGeom>
        </p:spPr>
      </p:pic>
      <p:sp>
        <p:nvSpPr>
          <p:cNvPr id="8" name="TextBox 7"/>
          <p:cNvSpPr txBox="1"/>
          <p:nvPr/>
        </p:nvSpPr>
        <p:spPr>
          <a:xfrm>
            <a:off x="6199632" y="5815584"/>
            <a:ext cx="5157216" cy="292608"/>
          </a:xfrm>
          <a:prstGeom prst="rect">
            <a:avLst/>
          </a:prstGeom>
          <a:noFill/>
        </p:spPr>
        <p:txBody>
          <a:bodyPr wrap="none" tIns="0" bIns="0" lIns="0" rIns="0">
            <a:spAutoFit/>
          </a:bodyPr>
          <a:lstStyle/>
          <a:p>
            <a:pPr algn="ctr">
              <a:defRPr sz="850" b="1">
                <a:solidFill>
                  <a:srgbClr val="0F766E"/>
                </a:solidFill>
                <a:latin typeface="Segoe UI"/>
              </a:defRPr>
            </a:pPr>
            <a:r>
              <a:t>LIVE INTERFACE: Department Defaulter Analytics &amp; Multi-Level Approvals Tab</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C59B27"/>
                </a:solidFill>
                <a:latin typeface="Segoe UI"/>
              </a:defRPr>
            </a:pPr>
            <a:r>
              <a:t>SCHOLARTRACK MASTERS</a:t>
            </a:r>
          </a:p>
          <a:p>
            <a:pPr>
              <a:spcBef>
                <a:spcPts val="300"/>
              </a:spcBef>
              <a:defRPr sz="2200" b="1">
                <a:solidFill>
                  <a:srgbClr val="133A26"/>
                </a:solidFill>
                <a:latin typeface="Segoe UI"/>
              </a:defRPr>
            </a:pPr>
            <a:r>
              <a:t>Operational Controls: Attendance Corrections &amp; Policy Engine</a:t>
            </a:r>
          </a:p>
        </p:txBody>
      </p:sp>
      <p:pic>
        <p:nvPicPr>
          <p:cNvPr id="3" name="Picture 2" descr="hpu_logo.png"/>
          <p:cNvPicPr>
            <a:picLocks noChangeAspect="1"/>
          </p:cNvPicPr>
          <p:nvPr/>
        </p:nvPicPr>
        <p:blipFill>
          <a:blip r:embed="rId2"/>
          <a:stretch>
            <a:fillRect/>
          </a:stretch>
        </p:blipFill>
        <p:spPr>
          <a:xfrm>
            <a:off x="11064240" y="320040"/>
            <a:ext cx="777240" cy="777240"/>
          </a:xfrm>
          <a:prstGeom prst="rect">
            <a:avLst/>
          </a:prstGeom>
        </p:spPr>
      </p:pic>
      <p:sp>
        <p:nvSpPr>
          <p:cNvPr id="4" name="TextBox 3"/>
          <p:cNvSpPr txBox="1"/>
          <p:nvPr/>
        </p:nvSpPr>
        <p:spPr>
          <a:xfrm>
            <a:off x="731520" y="6355080"/>
            <a:ext cx="10728655" cy="365760"/>
          </a:xfrm>
          <a:prstGeom prst="rect">
            <a:avLst/>
          </a:prstGeom>
          <a:noFill/>
        </p:spPr>
        <p:txBody>
          <a:bodyPr wrap="square" lIns="0" tIns="0" rIns="0" bIns="0">
            <a:spAutoFit/>
          </a:bodyPr>
          <a:lstStyle/>
          <a:p>
            <a:pPr>
              <a:defRPr sz="900">
                <a:solidFill>
                  <a:srgbClr val="475569"/>
                </a:solidFill>
                <a:latin typeface="Segoe UI"/>
              </a:defRPr>
            </a:pPr>
            <a:r>
              <a:t>Himachal Pradesh University, Shimla  |  ScholarHub Digital Research &amp; Governance Ecosystem  |  Slide 19 of 25</a:t>
            </a:r>
          </a:p>
        </p:txBody>
      </p:sp>
      <p:sp>
        <p:nvSpPr>
          <p:cNvPr id="5" name="TextBox 4"/>
          <p:cNvSpPr txBox="1"/>
          <p:nvPr/>
        </p:nvSpPr>
        <p:spPr>
          <a:xfrm>
            <a:off x="731520" y="1463040"/>
            <a:ext cx="5120640" cy="4572000"/>
          </a:xfrm>
          <a:prstGeom prst="rect">
            <a:avLst/>
          </a:prstGeom>
          <a:noFill/>
        </p:spPr>
        <p:txBody>
          <a:bodyPr wrap="square" lIns="0" rIns="0" tIns="0" bIns="0">
            <a:spAutoFit/>
          </a:bodyPr>
          <a:lstStyle/>
          <a:p>
            <a:pPr>
              <a:defRPr sz="1100" b="1">
                <a:solidFill>
                  <a:srgbClr val="0F766E"/>
                </a:solidFill>
                <a:latin typeface="Segoe UI"/>
              </a:defRPr>
            </a:pPr>
            <a:r>
              <a:t>FLEXIBLE INSTITUTIONAL ADMINISTRATION</a:t>
            </a:r>
          </a:p>
          <a:p>
            <a:pPr>
              <a:spcBef>
                <a:spcPts val="400"/>
              </a:spcBef>
              <a:defRPr sz="1800" b="1">
                <a:solidFill>
                  <a:srgbClr val="133A26"/>
                </a:solidFill>
                <a:latin typeface="Segoe UI"/>
              </a:defRPr>
            </a:pPr>
            <a:r>
              <a:t>Complete Departmental Flexibility</a:t>
            </a:r>
          </a:p>
          <a:p>
            <a:pPr>
              <a:spcBef>
                <a:spcPts val="800"/>
              </a:spcBef>
              <a:defRPr sz="1100">
                <a:solidFill>
                  <a:srgbClr val="0F172A"/>
                </a:solidFill>
                <a:latin typeface="Segoe UI"/>
              </a:defRPr>
            </a:pPr>
            <a:r>
              <a:t>• Attendance Correction Workflow: If a student misses punching due to official duty, they can request correction with reason and document; approved by course teacher and HOD.</a:t>
            </a:r>
          </a:p>
          <a:p>
            <a:pPr>
              <a:spcBef>
                <a:spcPts val="800"/>
              </a:spcBef>
              <a:defRPr sz="1100">
                <a:solidFill>
                  <a:srgbClr val="0F172A"/>
                </a:solidFill>
                <a:latin typeface="Segoe UI"/>
              </a:defRPr>
            </a:pPr>
            <a:r>
              <a:t>• Subject-Semester Mapping: Easily map enrolled students to faculty members, course codes, and timetables.</a:t>
            </a:r>
          </a:p>
          <a:p>
            <a:pPr>
              <a:spcBef>
                <a:spcPts val="800"/>
              </a:spcBef>
              <a:defRPr sz="1100">
                <a:solidFill>
                  <a:srgbClr val="0F172A"/>
                </a:solidFill>
                <a:latin typeface="Segoe UI"/>
              </a:defRPr>
            </a:pPr>
            <a:r>
              <a:t>• Master Holiday &amp; Session Rules: Admin controls university holiday lists, session start/end dates, and maximum allowed leaves per category.</a:t>
            </a:r>
          </a:p>
          <a:p>
            <a:pPr>
              <a:spcBef>
                <a:spcPts val="800"/>
              </a:spcBef>
              <a:defRPr sz="1100">
                <a:solidFill>
                  <a:srgbClr val="0F172A"/>
                </a:solidFill>
                <a:latin typeface="Segoe UI"/>
              </a:defRPr>
            </a:pPr>
            <a:r>
              <a:t>• Audit Logging: Every attendance modification is logged with user ID, IP address, and timestamp.</a:t>
            </a:r>
          </a:p>
        </p:txBody>
      </p:sp>
      <p:sp>
        <p:nvSpPr>
          <p:cNvPr id="6" name="Rounded Rectangle 5"/>
          <p:cNvSpPr/>
          <p:nvPr/>
        </p:nvSpPr>
        <p:spPr>
          <a:xfrm>
            <a:off x="612648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8_track_admin_console.png"/>
          <p:cNvPicPr>
            <a:picLocks noChangeAspect="1"/>
          </p:cNvPicPr>
          <p:nvPr/>
        </p:nvPicPr>
        <p:blipFill>
          <a:blip r:embed="rId3"/>
          <a:stretch>
            <a:fillRect/>
          </a:stretch>
        </p:blipFill>
        <p:spPr>
          <a:xfrm>
            <a:off x="6199632" y="1444752"/>
            <a:ext cx="5157216" cy="4315968"/>
          </a:xfrm>
          <a:prstGeom prst="rect">
            <a:avLst/>
          </a:prstGeom>
        </p:spPr>
      </p:pic>
      <p:sp>
        <p:nvSpPr>
          <p:cNvPr id="8" name="TextBox 7"/>
          <p:cNvSpPr txBox="1"/>
          <p:nvPr/>
        </p:nvSpPr>
        <p:spPr>
          <a:xfrm>
            <a:off x="6199632" y="5815584"/>
            <a:ext cx="5157216" cy="292608"/>
          </a:xfrm>
          <a:prstGeom prst="rect">
            <a:avLst/>
          </a:prstGeom>
          <a:noFill/>
        </p:spPr>
        <p:txBody>
          <a:bodyPr wrap="none" tIns="0" bIns="0" lIns="0" rIns="0">
            <a:spAutoFit/>
          </a:bodyPr>
          <a:lstStyle/>
          <a:p>
            <a:pPr algn="ctr">
              <a:defRPr sz="850" b="1">
                <a:solidFill>
                  <a:srgbClr val="0F766E"/>
                </a:solidFill>
                <a:latin typeface="Segoe UI"/>
              </a:defRPr>
            </a:pPr>
            <a:r>
              <a:t>LIVE INTERFACE: Admin Master Controls &amp; Institutional System Configuration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C59B27"/>
                </a:solidFill>
                <a:latin typeface="Segoe UI"/>
              </a:defRPr>
            </a:pPr>
            <a:r>
              <a:t>CORE TECHNOLOGY</a:t>
            </a:r>
          </a:p>
          <a:p>
            <a:pPr>
              <a:spcBef>
                <a:spcPts val="300"/>
              </a:spcBef>
              <a:defRPr sz="2200" b="1">
                <a:solidFill>
                  <a:srgbClr val="133A26"/>
                </a:solidFill>
                <a:latin typeface="Segoe UI"/>
              </a:defRPr>
            </a:pPr>
            <a:r>
              <a:t>Technology Advantage: Lightweight, Ultra-Fast MERN Architecture</a:t>
            </a:r>
          </a:p>
        </p:txBody>
      </p:sp>
      <p:pic>
        <p:nvPicPr>
          <p:cNvPr id="3" name="Picture 2" descr="hpu_logo.png"/>
          <p:cNvPicPr>
            <a:picLocks noChangeAspect="1"/>
          </p:cNvPicPr>
          <p:nvPr/>
        </p:nvPicPr>
        <p:blipFill>
          <a:blip r:embed="rId2"/>
          <a:stretch>
            <a:fillRect/>
          </a:stretch>
        </p:blipFill>
        <p:spPr>
          <a:xfrm>
            <a:off x="11064240" y="320040"/>
            <a:ext cx="777240" cy="777240"/>
          </a:xfrm>
          <a:prstGeom prst="rect">
            <a:avLst/>
          </a:prstGeom>
        </p:spPr>
      </p:pic>
      <p:sp>
        <p:nvSpPr>
          <p:cNvPr id="4" name="TextBox 3"/>
          <p:cNvSpPr txBox="1"/>
          <p:nvPr/>
        </p:nvSpPr>
        <p:spPr>
          <a:xfrm>
            <a:off x="731520" y="6355080"/>
            <a:ext cx="10728655" cy="365760"/>
          </a:xfrm>
          <a:prstGeom prst="rect">
            <a:avLst/>
          </a:prstGeom>
          <a:noFill/>
        </p:spPr>
        <p:txBody>
          <a:bodyPr wrap="square" lIns="0" tIns="0" rIns="0" bIns="0">
            <a:spAutoFit/>
          </a:bodyPr>
          <a:lstStyle/>
          <a:p>
            <a:pPr>
              <a:defRPr sz="900">
                <a:solidFill>
                  <a:srgbClr val="475569"/>
                </a:solidFill>
                <a:latin typeface="Segoe UI"/>
              </a:defRPr>
            </a:pPr>
            <a:r>
              <a:t>Himachal Pradesh University, Shimla  |  ScholarHub Digital Research &amp; Governance Ecosystem  |  Slide 20 of 25</a:t>
            </a:r>
          </a:p>
        </p:txBody>
      </p:sp>
      <p:sp>
        <p:nvSpPr>
          <p:cNvPr id="5" name="Rounded Rectangle 4"/>
          <p:cNvSpPr/>
          <p:nvPr/>
        </p:nvSpPr>
        <p:spPr>
          <a:xfrm>
            <a:off x="731520" y="146304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000" b="1">
                <a:solidFill>
                  <a:srgbClr val="0F766E"/>
                </a:solidFill>
                <a:latin typeface="Segoe UI"/>
              </a:defRPr>
            </a:pPr>
            <a:r>
              <a:t>ZERO ERP BLOATWARE</a:t>
            </a:r>
          </a:p>
          <a:p>
            <a:pPr>
              <a:spcBef>
                <a:spcPts val="600"/>
              </a:spcBef>
              <a:defRPr sz="1600" b="1">
                <a:solidFill>
                  <a:srgbClr val="133A26"/>
                </a:solidFill>
                <a:latin typeface="Segoe UI"/>
              </a:defRPr>
            </a:pPr>
            <a:r>
              <a:t>React (Vite) + Express Architecture</a:t>
            </a:r>
          </a:p>
          <a:p>
            <a:pPr>
              <a:spcBef>
                <a:spcPts val="1200"/>
              </a:spcBef>
              <a:defRPr sz="1200">
                <a:solidFill>
                  <a:srgbClr val="475569"/>
                </a:solidFill>
                <a:latin typeface="Segoe UI"/>
              </a:defRPr>
            </a:pPr>
            <a:r>
              <a:t>Built using modern React Single Page Application (SPA) with Vite. Pages load in milliseconds under 0.8s even on slow internet connections in hilly areas, unlike heavy proprietary ERPs that crash under peak load.</a:t>
            </a:r>
          </a:p>
        </p:txBody>
      </p:sp>
      <p:sp>
        <p:nvSpPr>
          <p:cNvPr id="6" name="Rounded Rectangle 5"/>
          <p:cNvSpPr/>
          <p:nvPr/>
        </p:nvSpPr>
        <p:spPr>
          <a:xfrm>
            <a:off x="4389120" y="146304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000" b="1">
                <a:solidFill>
                  <a:srgbClr val="0F766E"/>
                </a:solidFill>
                <a:latin typeface="Segoe UI"/>
              </a:defRPr>
            </a:pPr>
            <a:r>
              <a:t>DURABLE STORAGE</a:t>
            </a:r>
          </a:p>
          <a:p>
            <a:pPr>
              <a:spcBef>
                <a:spcPts val="600"/>
              </a:spcBef>
              <a:defRPr sz="1600" b="1">
                <a:solidFill>
                  <a:srgbClr val="133A26"/>
                </a:solidFill>
                <a:latin typeface="Segoe UI"/>
              </a:defRPr>
            </a:pPr>
            <a:r>
              <a:t>Centralized MongoDB Monorepo</a:t>
            </a:r>
          </a:p>
          <a:p>
            <a:pPr>
              <a:spcBef>
                <a:spcPts val="1200"/>
              </a:spcBef>
              <a:defRPr sz="1200">
                <a:solidFill>
                  <a:srgbClr val="475569"/>
                </a:solidFill>
                <a:latin typeface="Segoe UI"/>
              </a:defRPr>
            </a:pPr>
            <a:r>
              <a:t>A unified database powers Gateway, ScholarSync, and ScholarTrack. Candidate records, credentials, and SH-numbers are shared seamlessly across modules without redundant data entry or desynchronization.</a:t>
            </a:r>
          </a:p>
        </p:txBody>
      </p:sp>
      <p:sp>
        <p:nvSpPr>
          <p:cNvPr id="7" name="Rounded Rectangle 6"/>
          <p:cNvSpPr/>
          <p:nvPr/>
        </p:nvSpPr>
        <p:spPr>
          <a:xfrm>
            <a:off x="8046720" y="146304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000" b="1">
                <a:solidFill>
                  <a:srgbClr val="0F766E"/>
                </a:solidFill>
                <a:latin typeface="Segoe UI"/>
              </a:defRPr>
            </a:pPr>
            <a:r>
              <a:t>ENTERPRISE SECURITY</a:t>
            </a:r>
          </a:p>
          <a:p>
            <a:pPr>
              <a:spcBef>
                <a:spcPts val="600"/>
              </a:spcBef>
              <a:defRPr sz="1600" b="1">
                <a:solidFill>
                  <a:srgbClr val="133A26"/>
                </a:solidFill>
                <a:latin typeface="Segoe UI"/>
              </a:defRPr>
            </a:pPr>
            <a:r>
              <a:t>Role-Based Access Control &amp; SSL</a:t>
            </a:r>
          </a:p>
          <a:p>
            <a:pPr>
              <a:spcBef>
                <a:spcPts val="1200"/>
              </a:spcBef>
              <a:defRPr sz="1200">
                <a:solidFill>
                  <a:srgbClr val="475569"/>
                </a:solidFill>
                <a:latin typeface="Segoe UI"/>
              </a:defRPr>
            </a:pPr>
            <a:r>
              <a:t>Bank-grade JWT session authentication with bcrypt password hashing. Granular role-based permissions (Scholar, Guide, HOD, Dean, Admin) with end-to-end HTTPS SSL encryption on all university subdomains.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C59B27"/>
                </a:solidFill>
                <a:latin typeface="Segoe UI"/>
              </a:defRPr>
            </a:pPr>
            <a:r>
              <a:t>CORE TECHNOLOGY</a:t>
            </a:r>
          </a:p>
          <a:p>
            <a:pPr>
              <a:spcBef>
                <a:spcPts val="300"/>
              </a:spcBef>
              <a:defRPr sz="2200" b="1">
                <a:solidFill>
                  <a:srgbClr val="133A26"/>
                </a:solidFill>
                <a:latin typeface="Segoe UI"/>
              </a:defRPr>
            </a:pPr>
            <a:r>
              <a:t>Mobile Accessibility: Progressive Web Apps (PWA) on Any Phone</a:t>
            </a:r>
          </a:p>
        </p:txBody>
      </p:sp>
      <p:pic>
        <p:nvPicPr>
          <p:cNvPr id="3" name="Picture 2" descr="hpu_logo.png"/>
          <p:cNvPicPr>
            <a:picLocks noChangeAspect="1"/>
          </p:cNvPicPr>
          <p:nvPr/>
        </p:nvPicPr>
        <p:blipFill>
          <a:blip r:embed="rId2"/>
          <a:stretch>
            <a:fillRect/>
          </a:stretch>
        </p:blipFill>
        <p:spPr>
          <a:xfrm>
            <a:off x="11064240" y="320040"/>
            <a:ext cx="777240" cy="777240"/>
          </a:xfrm>
          <a:prstGeom prst="rect">
            <a:avLst/>
          </a:prstGeom>
        </p:spPr>
      </p:pic>
      <p:sp>
        <p:nvSpPr>
          <p:cNvPr id="4" name="TextBox 3"/>
          <p:cNvSpPr txBox="1"/>
          <p:nvPr/>
        </p:nvSpPr>
        <p:spPr>
          <a:xfrm>
            <a:off x="731520" y="6355080"/>
            <a:ext cx="10728655" cy="365760"/>
          </a:xfrm>
          <a:prstGeom prst="rect">
            <a:avLst/>
          </a:prstGeom>
          <a:noFill/>
        </p:spPr>
        <p:txBody>
          <a:bodyPr wrap="square" lIns="0" tIns="0" rIns="0" bIns="0">
            <a:spAutoFit/>
          </a:bodyPr>
          <a:lstStyle/>
          <a:p>
            <a:pPr>
              <a:defRPr sz="900">
                <a:solidFill>
                  <a:srgbClr val="475569"/>
                </a:solidFill>
                <a:latin typeface="Segoe UI"/>
              </a:defRPr>
            </a:pPr>
            <a:r>
              <a:t>Himachal Pradesh University, Shimla  |  ScholarHub Digital Research &amp; Governance Ecosystem  |  Slide 21 of 25</a:t>
            </a:r>
          </a:p>
        </p:txBody>
      </p:sp>
      <p:sp>
        <p:nvSpPr>
          <p:cNvPr id="5" name="TextBox 4"/>
          <p:cNvSpPr txBox="1"/>
          <p:nvPr/>
        </p:nvSpPr>
        <p:spPr>
          <a:xfrm>
            <a:off x="731520" y="1463040"/>
            <a:ext cx="5486400" cy="4572000"/>
          </a:xfrm>
          <a:prstGeom prst="rect">
            <a:avLst/>
          </a:prstGeom>
          <a:noFill/>
        </p:spPr>
        <p:txBody>
          <a:bodyPr wrap="square" lIns="0" rIns="0" tIns="0" bIns="0">
            <a:spAutoFit/>
          </a:bodyPr>
          <a:lstStyle/>
          <a:p>
            <a:pPr>
              <a:defRPr sz="1100" b="1">
                <a:solidFill>
                  <a:srgbClr val="0F766E"/>
                </a:solidFill>
                <a:latin typeface="Segoe UI"/>
              </a:defRPr>
            </a:pPr>
            <a:r>
              <a:t>ZERO APP STORE FRICTION</a:t>
            </a:r>
          </a:p>
          <a:p>
            <a:pPr>
              <a:spcBef>
                <a:spcPts val="400"/>
              </a:spcBef>
              <a:defRPr sz="1800" b="1">
                <a:solidFill>
                  <a:srgbClr val="133A26"/>
                </a:solidFill>
                <a:latin typeface="Segoe UI"/>
              </a:defRPr>
            </a:pPr>
            <a:r>
              <a:t>Native Mobile Experience on Android &amp; iOS</a:t>
            </a:r>
          </a:p>
          <a:p>
            <a:pPr>
              <a:spcBef>
                <a:spcPts val="800"/>
              </a:spcBef>
              <a:defRPr sz="1100">
                <a:solidFill>
                  <a:srgbClr val="0F172A"/>
                </a:solidFill>
                <a:latin typeface="Segoe UI"/>
              </a:defRPr>
            </a:pPr>
            <a:r>
              <a:t>• One-Click Direct Install: Users tap 'Install App' directly in Chrome or Safari. No waiting for Google Play Store or Apple App Store approval cycles.</a:t>
            </a:r>
          </a:p>
          <a:p>
            <a:pPr>
              <a:spcBef>
                <a:spcPts val="800"/>
              </a:spcBef>
              <a:defRPr sz="1100">
                <a:solidFill>
                  <a:srgbClr val="0F172A"/>
                </a:solidFill>
                <a:latin typeface="Segoe UI"/>
              </a:defRPr>
            </a:pPr>
            <a:r>
              <a:t>• Ultra-Lightweight (&lt;2MB): Occupies negligible phone storage. Perfect for students and busy professors.</a:t>
            </a:r>
          </a:p>
          <a:p>
            <a:pPr>
              <a:spcBef>
                <a:spcPts val="800"/>
              </a:spcBef>
              <a:defRPr sz="1100">
                <a:solidFill>
                  <a:srgbClr val="0F172A"/>
                </a:solidFill>
                <a:latin typeface="Segoe UI"/>
              </a:defRPr>
            </a:pPr>
            <a:r>
              <a:t>• Optimized for Hilly Terrain Connectivity: Service worker caching allows offline review of attendance logs and cached profiles during intermittent mobile connectivity.</a:t>
            </a:r>
          </a:p>
          <a:p>
            <a:pPr>
              <a:spcBef>
                <a:spcPts val="800"/>
              </a:spcBef>
              <a:defRPr sz="1100">
                <a:solidFill>
                  <a:srgbClr val="0F172A"/>
                </a:solidFill>
                <a:latin typeface="Segoe UI"/>
              </a:defRPr>
            </a:pPr>
            <a:r>
              <a:t>• Responsive Adaptive Layout: Designed specifically for handheld touch navigation with bottom action tabs and quick biometric login.</a:t>
            </a:r>
          </a:p>
        </p:txBody>
      </p:sp>
      <p:sp>
        <p:nvSpPr>
          <p:cNvPr id="6" name="Rounded Rectangle 5"/>
          <p:cNvSpPr/>
          <p:nvPr/>
        </p:nvSpPr>
        <p:spPr>
          <a:xfrm>
            <a:off x="6583680" y="1371600"/>
            <a:ext cx="23774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9_mobile_pwa_track.png"/>
          <p:cNvPicPr>
            <a:picLocks noChangeAspect="1"/>
          </p:cNvPicPr>
          <p:nvPr/>
        </p:nvPicPr>
        <p:blipFill>
          <a:blip r:embed="rId3"/>
          <a:stretch>
            <a:fillRect/>
          </a:stretch>
        </p:blipFill>
        <p:spPr>
          <a:xfrm>
            <a:off x="6656832" y="1444752"/>
            <a:ext cx="2231136" cy="4315968"/>
          </a:xfrm>
          <a:prstGeom prst="rect">
            <a:avLst/>
          </a:prstGeom>
        </p:spPr>
      </p:pic>
      <p:sp>
        <p:nvSpPr>
          <p:cNvPr id="8" name="TextBox 7"/>
          <p:cNvSpPr txBox="1"/>
          <p:nvPr/>
        </p:nvSpPr>
        <p:spPr>
          <a:xfrm>
            <a:off x="6656832" y="5815584"/>
            <a:ext cx="2231136" cy="292608"/>
          </a:xfrm>
          <a:prstGeom prst="rect">
            <a:avLst/>
          </a:prstGeom>
          <a:noFill/>
        </p:spPr>
        <p:txBody>
          <a:bodyPr wrap="none" tIns="0" bIns="0" lIns="0" rIns="0">
            <a:spAutoFit/>
          </a:bodyPr>
          <a:lstStyle/>
          <a:p>
            <a:pPr algn="ctr">
              <a:defRPr sz="850" b="1">
                <a:solidFill>
                  <a:srgbClr val="0F766E"/>
                </a:solidFill>
                <a:latin typeface="Segoe UI"/>
              </a:defRPr>
            </a:pPr>
            <a:r>
              <a:t>LIVE INTERFACE: ScholarTrack PWA</a:t>
            </a:r>
          </a:p>
        </p:txBody>
      </p:sp>
      <p:sp>
        <p:nvSpPr>
          <p:cNvPr id="9" name="Rounded Rectangle 8"/>
          <p:cNvSpPr/>
          <p:nvPr/>
        </p:nvSpPr>
        <p:spPr>
          <a:xfrm>
            <a:off x="9235440" y="1371600"/>
            <a:ext cx="23774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20_mobile_pwa_sync.png"/>
          <p:cNvPicPr>
            <a:picLocks noChangeAspect="1"/>
          </p:cNvPicPr>
          <p:nvPr/>
        </p:nvPicPr>
        <p:blipFill>
          <a:blip r:embed="rId4"/>
          <a:stretch>
            <a:fillRect/>
          </a:stretch>
        </p:blipFill>
        <p:spPr>
          <a:xfrm>
            <a:off x="9308592" y="1444752"/>
            <a:ext cx="2231136" cy="4315968"/>
          </a:xfrm>
          <a:prstGeom prst="rect">
            <a:avLst/>
          </a:prstGeom>
        </p:spPr>
      </p:pic>
      <p:sp>
        <p:nvSpPr>
          <p:cNvPr id="11" name="TextBox 10"/>
          <p:cNvSpPr txBox="1"/>
          <p:nvPr/>
        </p:nvSpPr>
        <p:spPr>
          <a:xfrm>
            <a:off x="9308592" y="5815584"/>
            <a:ext cx="2231136" cy="292608"/>
          </a:xfrm>
          <a:prstGeom prst="rect">
            <a:avLst/>
          </a:prstGeom>
          <a:noFill/>
        </p:spPr>
        <p:txBody>
          <a:bodyPr wrap="none" tIns="0" bIns="0" lIns="0" rIns="0">
            <a:spAutoFit/>
          </a:bodyPr>
          <a:lstStyle/>
          <a:p>
            <a:pPr algn="ctr">
              <a:defRPr sz="850" b="1">
                <a:solidFill>
                  <a:srgbClr val="0F766E"/>
                </a:solidFill>
                <a:latin typeface="Segoe UI"/>
              </a:defRPr>
            </a:pPr>
            <a:r>
              <a:t>LIVE INTERFACE: ScholarSync PWA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C59B27"/>
                </a:solidFill>
                <a:latin typeface="Segoe UI"/>
              </a:defRPr>
            </a:pPr>
            <a:r>
              <a:t>CORE TECHNOLOGY</a:t>
            </a:r>
          </a:p>
          <a:p>
            <a:pPr>
              <a:spcBef>
                <a:spcPts val="300"/>
              </a:spcBef>
              <a:defRPr sz="2200" b="1">
                <a:solidFill>
                  <a:srgbClr val="133A26"/>
                </a:solidFill>
                <a:latin typeface="Segoe UI"/>
              </a:defRPr>
            </a:pPr>
            <a:r>
              <a:t>Enterprise Communications: Self-Hosted Stalwart SMTP Server</a:t>
            </a:r>
          </a:p>
        </p:txBody>
      </p:sp>
      <p:pic>
        <p:nvPicPr>
          <p:cNvPr id="3" name="Picture 2" descr="hpu_logo.png"/>
          <p:cNvPicPr>
            <a:picLocks noChangeAspect="1"/>
          </p:cNvPicPr>
          <p:nvPr/>
        </p:nvPicPr>
        <p:blipFill>
          <a:blip r:embed="rId2"/>
          <a:stretch>
            <a:fillRect/>
          </a:stretch>
        </p:blipFill>
        <p:spPr>
          <a:xfrm>
            <a:off x="11064240" y="320040"/>
            <a:ext cx="777240" cy="777240"/>
          </a:xfrm>
          <a:prstGeom prst="rect">
            <a:avLst/>
          </a:prstGeom>
        </p:spPr>
      </p:pic>
      <p:sp>
        <p:nvSpPr>
          <p:cNvPr id="4" name="TextBox 3"/>
          <p:cNvSpPr txBox="1"/>
          <p:nvPr/>
        </p:nvSpPr>
        <p:spPr>
          <a:xfrm>
            <a:off x="731520" y="6355080"/>
            <a:ext cx="10728655" cy="365760"/>
          </a:xfrm>
          <a:prstGeom prst="rect">
            <a:avLst/>
          </a:prstGeom>
          <a:noFill/>
        </p:spPr>
        <p:txBody>
          <a:bodyPr wrap="square" lIns="0" tIns="0" rIns="0" bIns="0">
            <a:spAutoFit/>
          </a:bodyPr>
          <a:lstStyle/>
          <a:p>
            <a:pPr>
              <a:defRPr sz="900">
                <a:solidFill>
                  <a:srgbClr val="475569"/>
                </a:solidFill>
                <a:latin typeface="Segoe UI"/>
              </a:defRPr>
            </a:pPr>
            <a:r>
              <a:t>Himachal Pradesh University, Shimla  |  ScholarHub Digital Research &amp; Governance Ecosystem  |  Slide 22 of 25</a:t>
            </a:r>
          </a:p>
        </p:txBody>
      </p:sp>
      <p:sp>
        <p:nvSpPr>
          <p:cNvPr id="5" name="TextBox 4"/>
          <p:cNvSpPr txBox="1"/>
          <p:nvPr/>
        </p:nvSpPr>
        <p:spPr>
          <a:xfrm>
            <a:off x="731520" y="1463040"/>
            <a:ext cx="5120640" cy="4572000"/>
          </a:xfrm>
          <a:prstGeom prst="rect">
            <a:avLst/>
          </a:prstGeom>
          <a:noFill/>
        </p:spPr>
        <p:txBody>
          <a:bodyPr wrap="square" lIns="0" rIns="0" tIns="0" bIns="0">
            <a:spAutoFit/>
          </a:bodyPr>
          <a:lstStyle/>
          <a:p>
            <a:pPr>
              <a:defRPr sz="1100" b="1">
                <a:solidFill>
                  <a:srgbClr val="0F766E"/>
                </a:solidFill>
                <a:latin typeface="Segoe UI"/>
              </a:defRPr>
            </a:pPr>
            <a:r>
              <a:t>DEPENDABLE TRANSACTIONAL MESSAGING</a:t>
            </a:r>
          </a:p>
          <a:p>
            <a:pPr>
              <a:spcBef>
                <a:spcPts val="400"/>
              </a:spcBef>
              <a:defRPr sz="1800" b="1">
                <a:solidFill>
                  <a:srgbClr val="133A26"/>
                </a:solidFill>
                <a:latin typeface="Segoe UI"/>
              </a:defRPr>
            </a:pPr>
            <a:r>
              <a:t>Automated Event-Driven University Alerts</a:t>
            </a:r>
          </a:p>
          <a:p>
            <a:pPr>
              <a:spcBef>
                <a:spcPts val="800"/>
              </a:spcBef>
              <a:defRPr sz="1100">
                <a:solidFill>
                  <a:srgbClr val="0F172A"/>
                </a:solidFill>
                <a:latin typeface="Segoe UI"/>
              </a:defRPr>
            </a:pPr>
            <a:r>
              <a:t>• Dedicated Mail Server: Powered by self-hosted high-throughput Stalwart SMTP server (admin@scholarhubhpu.in) with SPF, DKIM, and DMARC verification.</a:t>
            </a:r>
          </a:p>
          <a:p>
            <a:pPr>
              <a:spcBef>
                <a:spcPts val="800"/>
              </a:spcBef>
              <a:defRPr sz="1100">
                <a:solidFill>
                  <a:srgbClr val="0F172A"/>
                </a:solidFill>
                <a:latin typeface="Segoe UI"/>
              </a:defRPr>
            </a:pPr>
            <a:r>
              <a:t>• Durable MongoDB Queue: Emails are queued via EmailQueue model and processed steadily by background worker processes with retry logic.</a:t>
            </a:r>
          </a:p>
          <a:p>
            <a:pPr>
              <a:spcBef>
                <a:spcPts val="800"/>
              </a:spcBef>
              <a:defRPr sz="1100">
                <a:solidFill>
                  <a:srgbClr val="0F172A"/>
                </a:solidFill>
                <a:latin typeface="Segoe UI"/>
              </a:defRPr>
            </a:pPr>
            <a:r>
              <a:t>• Catalog of 39+ Trigger Events: Instant notifications for account verification, DRC meeting schedules, RAC reviews, leave approvals, and degree awards.</a:t>
            </a:r>
          </a:p>
          <a:p>
            <a:pPr>
              <a:spcBef>
                <a:spcPts val="800"/>
              </a:spcBef>
              <a:defRPr sz="1100">
                <a:solidFill>
                  <a:srgbClr val="0F172A"/>
                </a:solidFill>
                <a:latin typeface="Segoe UI"/>
              </a:defRPr>
            </a:pPr>
            <a:r>
              <a:t>• Delivery Audit Trail: Live admin dashboard tracks delivery status, timestamps, and error diagnostics for 100% accountability.</a:t>
            </a:r>
          </a:p>
        </p:txBody>
      </p:sp>
      <p:sp>
        <p:nvSpPr>
          <p:cNvPr id="6" name="Rounded Rectangle 5"/>
          <p:cNvSpPr/>
          <p:nvPr/>
        </p:nvSpPr>
        <p:spPr>
          <a:xfrm>
            <a:off x="6126480" y="1371600"/>
            <a:ext cx="530352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8_track_admin_console.png"/>
          <p:cNvPicPr>
            <a:picLocks noChangeAspect="1"/>
          </p:cNvPicPr>
          <p:nvPr/>
        </p:nvPicPr>
        <p:blipFill>
          <a:blip r:embed="rId3"/>
          <a:stretch>
            <a:fillRect/>
          </a:stretch>
        </p:blipFill>
        <p:spPr>
          <a:xfrm>
            <a:off x="6199632" y="1444752"/>
            <a:ext cx="5157216" cy="4315968"/>
          </a:xfrm>
          <a:prstGeom prst="rect">
            <a:avLst/>
          </a:prstGeom>
        </p:spPr>
      </p:pic>
      <p:sp>
        <p:nvSpPr>
          <p:cNvPr id="8" name="TextBox 7"/>
          <p:cNvSpPr txBox="1"/>
          <p:nvPr/>
        </p:nvSpPr>
        <p:spPr>
          <a:xfrm>
            <a:off x="6199632" y="5815584"/>
            <a:ext cx="5157216" cy="292608"/>
          </a:xfrm>
          <a:prstGeom prst="rect">
            <a:avLst/>
          </a:prstGeom>
          <a:noFill/>
        </p:spPr>
        <p:txBody>
          <a:bodyPr wrap="none" tIns="0" bIns="0" lIns="0" rIns="0">
            <a:spAutoFit/>
          </a:bodyPr>
          <a:lstStyle/>
          <a:p>
            <a:pPr algn="ctr">
              <a:defRPr sz="850" b="1">
                <a:solidFill>
                  <a:srgbClr val="0F766E"/>
                </a:solidFill>
                <a:latin typeface="Segoe UI"/>
              </a:defRPr>
            </a:pPr>
            <a:r>
              <a:t>LIVE INTERFACE: Admin Communications &amp; Real-Time Delivery Tracking Logs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C59B27"/>
                </a:solidFill>
                <a:latin typeface="Segoe UI"/>
              </a:defRPr>
            </a:pPr>
            <a:r>
              <a:t>STRATEGIC SUMMARY</a:t>
            </a:r>
          </a:p>
          <a:p>
            <a:pPr>
              <a:spcBef>
                <a:spcPts val="300"/>
              </a:spcBef>
              <a:defRPr sz="2200" b="1">
                <a:solidFill>
                  <a:srgbClr val="133A26"/>
                </a:solidFill>
                <a:latin typeface="Segoe UI"/>
              </a:defRPr>
            </a:pPr>
            <a:r>
              <a:t>Transformation Summary: Before vs. After ScholarHub at HPU</a:t>
            </a:r>
          </a:p>
        </p:txBody>
      </p:sp>
      <p:pic>
        <p:nvPicPr>
          <p:cNvPr id="3" name="Picture 2" descr="hpu_logo.png"/>
          <p:cNvPicPr>
            <a:picLocks noChangeAspect="1"/>
          </p:cNvPicPr>
          <p:nvPr/>
        </p:nvPicPr>
        <p:blipFill>
          <a:blip r:embed="rId2"/>
          <a:stretch>
            <a:fillRect/>
          </a:stretch>
        </p:blipFill>
        <p:spPr>
          <a:xfrm>
            <a:off x="11064240" y="320040"/>
            <a:ext cx="777240" cy="777240"/>
          </a:xfrm>
          <a:prstGeom prst="rect">
            <a:avLst/>
          </a:prstGeom>
        </p:spPr>
      </p:pic>
      <p:sp>
        <p:nvSpPr>
          <p:cNvPr id="4" name="TextBox 3"/>
          <p:cNvSpPr txBox="1"/>
          <p:nvPr/>
        </p:nvSpPr>
        <p:spPr>
          <a:xfrm>
            <a:off x="731520" y="6355080"/>
            <a:ext cx="10728655" cy="365760"/>
          </a:xfrm>
          <a:prstGeom prst="rect">
            <a:avLst/>
          </a:prstGeom>
          <a:noFill/>
        </p:spPr>
        <p:txBody>
          <a:bodyPr wrap="square" lIns="0" tIns="0" rIns="0" bIns="0">
            <a:spAutoFit/>
          </a:bodyPr>
          <a:lstStyle/>
          <a:p>
            <a:pPr>
              <a:defRPr sz="900">
                <a:solidFill>
                  <a:srgbClr val="475569"/>
                </a:solidFill>
                <a:latin typeface="Segoe UI"/>
              </a:defRPr>
            </a:pPr>
            <a:r>
              <a:t>Himachal Pradesh University, Shimla  |  ScholarHub Digital Research &amp; Governance Ecosystem  |  Slide 23 of 25</a:t>
            </a:r>
          </a:p>
        </p:txBody>
      </p:sp>
      <p:sp>
        <p:nvSpPr>
          <p:cNvPr id="5" name="Rounded Rectangle 4"/>
          <p:cNvSpPr/>
          <p:nvPr/>
        </p:nvSpPr>
        <p:spPr>
          <a:xfrm>
            <a:off x="731520" y="1463040"/>
            <a:ext cx="5120640" cy="4389120"/>
          </a:xfrm>
          <a:prstGeom prst="roundRect">
            <a:avLst/>
          </a:prstGeom>
          <a:solidFill>
            <a:srgbClr val="FEF2F2"/>
          </a:solidFill>
          <a:ln w="1905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400" b="1">
                <a:solidFill>
                  <a:srgbClr val="B91C1C"/>
                </a:solidFill>
                <a:latin typeface="Segoe UI"/>
              </a:defRPr>
            </a:pPr>
            <a:r>
              <a:t>BEFORE SCHOLARHUB (Legacy Operations)</a:t>
            </a:r>
          </a:p>
          <a:p>
            <a:pPr>
              <a:spcBef>
                <a:spcPts val="800"/>
              </a:spcBef>
              <a:defRPr sz="1100">
                <a:solidFill>
                  <a:srgbClr val="0F172A"/>
                </a:solidFill>
                <a:latin typeface="Segoe UI"/>
              </a:defRPr>
            </a:pPr>
            <a:r>
              <a:t>❌ Ph.D. files take weeks to travel between departmental desks and dean's office.</a:t>
            </a:r>
          </a:p>
          <a:p>
            <a:pPr>
              <a:spcBef>
                <a:spcPts val="800"/>
              </a:spcBef>
              <a:defRPr sz="1100">
                <a:solidFill>
                  <a:srgbClr val="0F172A"/>
                </a:solidFill>
                <a:latin typeface="Segoe UI"/>
              </a:defRPr>
            </a:pPr>
            <a:r>
              <a:t>❌ Missing research synopses, handwritten RAC reviews, and untracked coursework.</a:t>
            </a:r>
          </a:p>
          <a:p>
            <a:pPr>
              <a:spcBef>
                <a:spcPts val="800"/>
              </a:spcBef>
              <a:defRPr sz="1100">
                <a:solidFill>
                  <a:srgbClr val="0F172A"/>
                </a:solidFill>
                <a:latin typeface="Segoe UI"/>
              </a:defRPr>
            </a:pPr>
            <a:r>
              <a:t>❌ Paper registers for scholar attendance prone to proxy marking and disputes.</a:t>
            </a:r>
          </a:p>
          <a:p>
            <a:pPr>
              <a:spcBef>
                <a:spcPts val="800"/>
              </a:spcBef>
              <a:defRPr sz="1100">
                <a:solidFill>
                  <a:srgbClr val="0F172A"/>
                </a:solidFill>
                <a:latin typeface="Segoe UI"/>
              </a:defRPr>
            </a:pPr>
            <a:r>
              <a:t>❌ Stipend disbursements vulnerable to statutory audit objections due to lack of proof.</a:t>
            </a:r>
          </a:p>
          <a:p>
            <a:pPr>
              <a:spcBef>
                <a:spcPts val="800"/>
              </a:spcBef>
              <a:defRPr sz="1100">
                <a:solidFill>
                  <a:srgbClr val="0F172A"/>
                </a:solidFill>
                <a:latin typeface="Segoe UI"/>
              </a:defRPr>
            </a:pPr>
            <a:r>
              <a:t>❌ Frantic, months-long paper collation before NAAC peer team and NIRF rankings.</a:t>
            </a:r>
          </a:p>
          <a:p>
            <a:pPr>
              <a:spcBef>
                <a:spcPts val="800"/>
              </a:spcBef>
              <a:defRPr sz="1100">
                <a:solidFill>
                  <a:srgbClr val="0F172A"/>
                </a:solidFill>
                <a:latin typeface="Segoe UI"/>
              </a:defRPr>
            </a:pPr>
            <a:r>
              <a:t>❌ No public visibility into HPU faculty research thrusts and active labs.</a:t>
            </a:r>
          </a:p>
        </p:txBody>
      </p:sp>
      <p:sp>
        <p:nvSpPr>
          <p:cNvPr id="6" name="Rounded Rectangle 5"/>
          <p:cNvSpPr/>
          <p:nvPr/>
        </p:nvSpPr>
        <p:spPr>
          <a:xfrm>
            <a:off x="6217920" y="1463040"/>
            <a:ext cx="5120640" cy="4389120"/>
          </a:xfrm>
          <a:prstGeom prst="roundRect">
            <a:avLst/>
          </a:prstGeom>
          <a:solidFill>
            <a:srgbClr val="F0FDF4"/>
          </a:solidFill>
          <a:ln w="1905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400" b="1">
                <a:solidFill>
                  <a:srgbClr val="1B4332"/>
                </a:solidFill>
                <a:latin typeface="Segoe UI"/>
              </a:defRPr>
            </a:pPr>
            <a:r>
              <a:t>AFTER SCHOLARHUB (Modern Digital Governance)</a:t>
            </a:r>
          </a:p>
          <a:p>
            <a:pPr>
              <a:spcBef>
                <a:spcPts val="800"/>
              </a:spcBef>
              <a:defRPr sz="1100">
                <a:solidFill>
                  <a:srgbClr val="0F172A"/>
                </a:solidFill>
                <a:latin typeface="Segoe UI"/>
              </a:defRPr>
            </a:pPr>
            <a:r>
              <a:t>✅ Instant digital lifecycle forwarding with timestamped supervisor &amp; HOD sign-offs.</a:t>
            </a:r>
          </a:p>
          <a:p>
            <a:pPr>
              <a:spcBef>
                <a:spcPts val="800"/>
              </a:spcBef>
              <a:defRPr sz="1100">
                <a:solidFill>
                  <a:srgbClr val="0F172A"/>
                </a:solidFill>
                <a:latin typeface="Segoe UI"/>
              </a:defRPr>
            </a:pPr>
            <a:r>
              <a:t>✅ Structured digital records for every milestone: DRC, RAC, Turnitin, &amp; Viva-Voce.</a:t>
            </a:r>
          </a:p>
          <a:p>
            <a:pPr>
              <a:spcBef>
                <a:spcPts val="800"/>
              </a:spcBef>
              <a:defRPr sz="1100">
                <a:solidFill>
                  <a:srgbClr val="0F172A"/>
                </a:solidFill>
                <a:latin typeface="Segoe UI"/>
              </a:defRPr>
            </a:pPr>
            <a:r>
              <a:t>✅ Verified digital/biometric daily attendance with real-time 75% percentage gauge.</a:t>
            </a:r>
          </a:p>
          <a:p>
            <a:pPr>
              <a:spcBef>
                <a:spcPts val="800"/>
              </a:spcBef>
              <a:defRPr sz="1100">
                <a:solidFill>
                  <a:srgbClr val="0F172A"/>
                </a:solidFill>
                <a:latin typeface="Segoe UI"/>
              </a:defRPr>
            </a:pPr>
            <a:r>
              <a:t>✅ 100% audit-proof fellowship certificates for Accounts &amp; Finance branch.</a:t>
            </a:r>
          </a:p>
          <a:p>
            <a:pPr>
              <a:spcBef>
                <a:spcPts val="800"/>
              </a:spcBef>
              <a:defRPr sz="1100">
                <a:solidFill>
                  <a:srgbClr val="0F172A"/>
                </a:solidFill>
                <a:latin typeface="Segoe UI"/>
              </a:defRPr>
            </a:pPr>
            <a:r>
              <a:t>✅ One-click NAAC Criterion 3 &amp; NIRF metrics export with verified proof links.</a:t>
            </a:r>
          </a:p>
          <a:p>
            <a:pPr>
              <a:spcBef>
                <a:spcPts val="800"/>
              </a:spcBef>
              <a:defRPr sz="1100">
                <a:solidFill>
                  <a:srgbClr val="0F172A"/>
                </a:solidFill>
                <a:latin typeface="Segoe UI"/>
              </a:defRPr>
            </a:pPr>
            <a:r>
              <a:t>✅ Prestigious Public Academic Research Directory showcasing HPU globally.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lIns="0" tIns="0" rIns="0" bIns="0">
            <a:spAutoFit/>
          </a:bodyPr>
          <a:lstStyle/>
          <a:p>
            <a:pPr>
              <a:defRPr sz="1000" b="1">
                <a:solidFill>
                  <a:srgbClr val="C59B27"/>
                </a:solidFill>
                <a:latin typeface="Segoe UI"/>
              </a:defRPr>
            </a:pPr>
            <a:r>
              <a:t>NEXT STEPS</a:t>
            </a:r>
          </a:p>
          <a:p>
            <a:pPr>
              <a:spcBef>
                <a:spcPts val="300"/>
              </a:spcBef>
              <a:defRPr sz="2200" b="1">
                <a:solidFill>
                  <a:srgbClr val="133A26"/>
                </a:solidFill>
                <a:latin typeface="Segoe UI"/>
              </a:defRPr>
            </a:pPr>
            <a:r>
              <a:t>Institutional Implementation &amp; Phased Rollout Roadmap</a:t>
            </a:r>
          </a:p>
        </p:txBody>
      </p:sp>
      <p:pic>
        <p:nvPicPr>
          <p:cNvPr id="3" name="Picture 2" descr="hpu_logo.png"/>
          <p:cNvPicPr>
            <a:picLocks noChangeAspect="1"/>
          </p:cNvPicPr>
          <p:nvPr/>
        </p:nvPicPr>
        <p:blipFill>
          <a:blip r:embed="rId2"/>
          <a:stretch>
            <a:fillRect/>
          </a:stretch>
        </p:blipFill>
        <p:spPr>
          <a:xfrm>
            <a:off x="11064240" y="320040"/>
            <a:ext cx="777240" cy="777240"/>
          </a:xfrm>
          <a:prstGeom prst="rect">
            <a:avLst/>
          </a:prstGeom>
        </p:spPr>
      </p:pic>
      <p:sp>
        <p:nvSpPr>
          <p:cNvPr id="4" name="TextBox 3"/>
          <p:cNvSpPr txBox="1"/>
          <p:nvPr/>
        </p:nvSpPr>
        <p:spPr>
          <a:xfrm>
            <a:off x="731520" y="6355080"/>
            <a:ext cx="10728655" cy="365760"/>
          </a:xfrm>
          <a:prstGeom prst="rect">
            <a:avLst/>
          </a:prstGeom>
          <a:noFill/>
        </p:spPr>
        <p:txBody>
          <a:bodyPr wrap="square" lIns="0" tIns="0" rIns="0" bIns="0">
            <a:spAutoFit/>
          </a:bodyPr>
          <a:lstStyle/>
          <a:p>
            <a:pPr>
              <a:defRPr sz="900">
                <a:solidFill>
                  <a:srgbClr val="475569"/>
                </a:solidFill>
                <a:latin typeface="Segoe UI"/>
              </a:defRPr>
            </a:pPr>
            <a:r>
              <a:t>Himachal Pradesh University, Shimla  |  ScholarHub Digital Research &amp; Governance Ecosystem  |  Slide 24 of 25</a:t>
            </a:r>
          </a:p>
        </p:txBody>
      </p:sp>
      <p:sp>
        <p:nvSpPr>
          <p:cNvPr id="5" name="Rounded Rectangle 4"/>
          <p:cNvSpPr/>
          <p:nvPr/>
        </p:nvSpPr>
        <p:spPr>
          <a:xfrm>
            <a:off x="731520" y="146304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000" b="1">
                <a:solidFill>
                  <a:srgbClr val="C59B27"/>
                </a:solidFill>
                <a:latin typeface="Segoe UI"/>
              </a:defRPr>
            </a:pPr>
            <a:r>
              <a:t>PHASE 1 (WEEKS 1 - 4)</a:t>
            </a:r>
          </a:p>
          <a:p>
            <a:pPr>
              <a:spcBef>
                <a:spcPts val="600"/>
              </a:spcBef>
              <a:defRPr sz="1600" b="1">
                <a:solidFill>
                  <a:srgbClr val="133A26"/>
                </a:solidFill>
                <a:latin typeface="Segoe UI"/>
              </a:defRPr>
            </a:pPr>
            <a:r>
              <a:t>Flagship Department Pilot</a:t>
            </a:r>
          </a:p>
          <a:p>
            <a:pPr>
              <a:spcBef>
                <a:spcPts val="800"/>
              </a:spcBef>
              <a:defRPr sz="1100">
                <a:solidFill>
                  <a:srgbClr val="0F172A"/>
                </a:solidFill>
                <a:latin typeface="Segoe UI"/>
              </a:defRPr>
            </a:pPr>
            <a:r>
              <a:t>• Deploy pilot in 3 leading faculties (e.g. Computer Science, Biotechnology, Physics).</a:t>
            </a:r>
          </a:p>
          <a:p>
            <a:pPr>
              <a:spcBef>
                <a:spcPts val="800"/>
              </a:spcBef>
              <a:defRPr sz="1100">
                <a:solidFill>
                  <a:srgbClr val="0F172A"/>
                </a:solidFill>
                <a:latin typeface="Segoe UI"/>
              </a:defRPr>
            </a:pPr>
            <a:r>
              <a:t>• Onboard active research scholars and supervisors.</a:t>
            </a:r>
          </a:p>
          <a:p>
            <a:pPr>
              <a:spcBef>
                <a:spcPts val="800"/>
              </a:spcBef>
              <a:defRPr sz="1100">
                <a:solidFill>
                  <a:srgbClr val="0F172A"/>
                </a:solidFill>
                <a:latin typeface="Segoe UI"/>
              </a:defRPr>
            </a:pPr>
            <a:r>
              <a:t>• Conduct brief 30-minute orientation workshops for HODs and faculty.</a:t>
            </a:r>
          </a:p>
          <a:p>
            <a:pPr>
              <a:spcBef>
                <a:spcPts val="800"/>
              </a:spcBef>
              <a:defRPr sz="1100">
                <a:solidFill>
                  <a:srgbClr val="0F172A"/>
                </a:solidFill>
                <a:latin typeface="Segoe UI"/>
              </a:defRPr>
            </a:pPr>
            <a:r>
              <a:t>• Verify live biometric / daily attendance &amp; leave logging.</a:t>
            </a:r>
          </a:p>
        </p:txBody>
      </p:sp>
      <p:sp>
        <p:nvSpPr>
          <p:cNvPr id="6" name="Rounded Rectangle 5"/>
          <p:cNvSpPr/>
          <p:nvPr/>
        </p:nvSpPr>
        <p:spPr>
          <a:xfrm>
            <a:off x="4389120" y="146304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000" b="1">
                <a:solidFill>
                  <a:srgbClr val="C59B27"/>
                </a:solidFill>
                <a:latin typeface="Segoe UI"/>
              </a:defRPr>
            </a:pPr>
            <a:r>
              <a:t>PHASE 2 (WEEKS 5 - 8)</a:t>
            </a:r>
          </a:p>
          <a:p>
            <a:pPr>
              <a:spcBef>
                <a:spcPts val="600"/>
              </a:spcBef>
              <a:defRPr sz="1600" b="1">
                <a:solidFill>
                  <a:srgbClr val="133A26"/>
                </a:solidFill>
                <a:latin typeface="Segoe UI"/>
              </a:defRPr>
            </a:pPr>
            <a:r>
              <a:t>University-Wide Rollout</a:t>
            </a:r>
          </a:p>
          <a:p>
            <a:pPr>
              <a:spcBef>
                <a:spcPts val="800"/>
              </a:spcBef>
              <a:defRPr sz="1100">
                <a:solidFill>
                  <a:srgbClr val="0F172A"/>
                </a:solidFill>
                <a:latin typeface="Segoe UI"/>
              </a:defRPr>
            </a:pPr>
            <a:r>
              <a:t>• Expand to all Humanities, Social Sciences, Law, and Sciences departments.</a:t>
            </a:r>
          </a:p>
          <a:p>
            <a:pPr>
              <a:spcBef>
                <a:spcPts val="800"/>
              </a:spcBef>
              <a:defRPr sz="1100">
                <a:solidFill>
                  <a:srgbClr val="0F172A"/>
                </a:solidFill>
                <a:latin typeface="Segoe UI"/>
              </a:defRPr>
            </a:pPr>
            <a:r>
              <a:t>• Backfill existing Ph.D. scholars with unique 9-digit SH numbers.</a:t>
            </a:r>
          </a:p>
          <a:p>
            <a:pPr>
              <a:spcBef>
                <a:spcPts val="800"/>
              </a:spcBef>
              <a:defRPr sz="1100">
                <a:solidFill>
                  <a:srgbClr val="0F172A"/>
                </a:solidFill>
                <a:latin typeface="Segoe UI"/>
              </a:defRPr>
            </a:pPr>
            <a:r>
              <a:t>• Integrate institutional holiday calendars and departmental leave rules.</a:t>
            </a:r>
          </a:p>
          <a:p>
            <a:pPr>
              <a:spcBef>
                <a:spcPts val="800"/>
              </a:spcBef>
              <a:defRPr sz="1100">
                <a:solidFill>
                  <a:srgbClr val="0F172A"/>
                </a:solidFill>
                <a:latin typeface="Segoe UI"/>
              </a:defRPr>
            </a:pPr>
            <a:r>
              <a:t>• Deploy PWA mobile app links across student notice boards.</a:t>
            </a:r>
          </a:p>
        </p:txBody>
      </p:sp>
      <p:sp>
        <p:nvSpPr>
          <p:cNvPr id="7" name="Rounded Rectangle 6"/>
          <p:cNvSpPr/>
          <p:nvPr/>
        </p:nvSpPr>
        <p:spPr>
          <a:xfrm>
            <a:off x="8046720" y="1463040"/>
            <a:ext cx="3328416"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256032"/>
          <a:lstStyle/>
          <a:p>
            <a:pPr algn="ctr">
              <a:defRPr sz="1000" b="1">
                <a:solidFill>
                  <a:srgbClr val="C59B27"/>
                </a:solidFill>
                <a:latin typeface="Segoe UI"/>
              </a:defRPr>
            </a:pPr>
            <a:r>
              <a:t>PHASE 3 (WEEKS 9+)</a:t>
            </a:r>
          </a:p>
          <a:p>
            <a:pPr>
              <a:spcBef>
                <a:spcPts val="600"/>
              </a:spcBef>
              <a:defRPr sz="1600" b="1">
                <a:solidFill>
                  <a:srgbClr val="133A26"/>
                </a:solidFill>
                <a:latin typeface="Segoe UI"/>
              </a:defRPr>
            </a:pPr>
            <a:r>
              <a:t>Paperless Governance Integration</a:t>
            </a:r>
          </a:p>
          <a:p>
            <a:pPr>
              <a:spcBef>
                <a:spcPts val="800"/>
              </a:spcBef>
              <a:defRPr sz="1100">
                <a:solidFill>
                  <a:srgbClr val="0F172A"/>
                </a:solidFill>
                <a:latin typeface="Segoe UI"/>
              </a:defRPr>
            </a:pPr>
            <a:r>
              <a:t>• Mandate digital DRC and RAC meeting logs across all faculties.</a:t>
            </a:r>
          </a:p>
          <a:p>
            <a:pPr>
              <a:spcBef>
                <a:spcPts val="800"/>
              </a:spcBef>
              <a:defRPr sz="1100">
                <a:solidFill>
                  <a:srgbClr val="0F172A"/>
                </a:solidFill>
                <a:latin typeface="Segoe UI"/>
              </a:defRPr>
            </a:pPr>
            <a:r>
              <a:t>• Direct electronic synchronization with Finance branch for monthly stipend release.</a:t>
            </a:r>
          </a:p>
          <a:p>
            <a:pPr>
              <a:spcBef>
                <a:spcPts val="800"/>
              </a:spcBef>
              <a:defRPr sz="1100">
                <a:solidFill>
                  <a:srgbClr val="0F172A"/>
                </a:solidFill>
                <a:latin typeface="Segoe UI"/>
              </a:defRPr>
            </a:pPr>
            <a:r>
              <a:t>• Automated NAAC Criterion 3 data compilation for upcoming accreditation.</a:t>
            </a:r>
          </a:p>
          <a:p>
            <a:pPr>
              <a:spcBef>
                <a:spcPts val="800"/>
              </a:spcBef>
              <a:defRPr sz="1100">
                <a:solidFill>
                  <a:srgbClr val="0F172A"/>
                </a:solidFill>
                <a:latin typeface="Segoe UI"/>
              </a:defRPr>
            </a:pPr>
            <a:r>
              <a:t>• Complete operational transition to paperless research administration.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33A26"/>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C59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hpu_logo.png"/>
          <p:cNvPicPr>
            <a:picLocks noChangeAspect="1"/>
          </p:cNvPicPr>
          <p:nvPr/>
        </p:nvPicPr>
        <p:blipFill>
          <a:blip r:embed="rId2"/>
          <a:stretch>
            <a:fillRect/>
          </a:stretch>
        </p:blipFill>
        <p:spPr>
          <a:xfrm>
            <a:off x="5394960" y="1005840"/>
            <a:ext cx="1371600" cy="1371600"/>
          </a:xfrm>
          <a:prstGeom prst="rect">
            <a:avLst/>
          </a:prstGeom>
        </p:spPr>
      </p:pic>
      <p:sp>
        <p:nvSpPr>
          <p:cNvPr id="4" name="TextBox 3"/>
          <p:cNvSpPr txBox="1"/>
          <p:nvPr/>
        </p:nvSpPr>
        <p:spPr>
          <a:xfrm>
            <a:off x="1371600" y="2468880"/>
            <a:ext cx="9418320" cy="3474720"/>
          </a:xfrm>
          <a:prstGeom prst="rect">
            <a:avLst/>
          </a:prstGeom>
          <a:noFill/>
        </p:spPr>
        <p:txBody>
          <a:bodyPr wrap="square">
            <a:spAutoFit/>
          </a:bodyPr>
          <a:lstStyle/>
          <a:p>
            <a:pPr algn="ctr">
              <a:defRPr sz="3200" b="1">
                <a:solidFill>
                  <a:srgbClr val="FFFFFF"/>
                </a:solidFill>
                <a:latin typeface="Segoe UI"/>
              </a:defRPr>
            </a:pPr>
            <a:r>
              <a:t>Thank You, Hon'ble Vice Chancellor &amp; University Officers</a:t>
            </a:r>
          </a:p>
          <a:p>
            <a:pPr algn="ctr">
              <a:spcBef>
                <a:spcPts val="1000"/>
              </a:spcBef>
              <a:defRPr sz="1800" b="1">
                <a:solidFill>
                  <a:srgbClr val="C59B27"/>
                </a:solidFill>
                <a:latin typeface="Segoe UI"/>
              </a:defRPr>
            </a:pPr>
            <a:r>
              <a:t>ScholarHub is Ready for Immediate Institutional Pilot at H.P. University</a:t>
            </a:r>
          </a:p>
          <a:p>
            <a:pPr algn="ctr">
              <a:spcBef>
                <a:spcPts val="1600"/>
              </a:spcBef>
              <a:defRPr sz="1300">
                <a:solidFill>
                  <a:srgbClr val="F1F5F9"/>
                </a:solidFill>
                <a:latin typeface="Segoe UI"/>
              </a:defRPr>
            </a:pPr>
            <a:r>
              <a:t>• Zero New Hardware Investment Required  • Fully Deployed &amp; Verified Live on Cloud Servers</a:t>
            </a:r>
            <a:br/>
            <a:r>
              <a:t>• PWA Mobile Apps Ready for All Faculty &amp; Scholars  • Automated NAAC &amp; UGC Regulatory Compliance</a:t>
            </a:r>
          </a:p>
          <a:p>
            <a:pPr algn="ctr">
              <a:spcBef>
                <a:spcPts val="2400"/>
              </a:spcBef>
              <a:defRPr sz="1400" b="1">
                <a:solidFill>
                  <a:srgbClr val="A7F3D0"/>
                </a:solidFill>
                <a:latin typeface="Segoe UI"/>
              </a:defRPr>
            </a:pPr>
            <a:r>
              <a:t>Open for Leadership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